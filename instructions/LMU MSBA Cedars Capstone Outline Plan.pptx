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50" r:id="rId2"/>
    <p:sldId id="358" r:id="rId3"/>
    <p:sldId id="359" r:id="rId4"/>
    <p:sldId id="360" r:id="rId5"/>
    <p:sldId id="362" r:id="rId6"/>
    <p:sldId id="363" r:id="rId7"/>
    <p:sldId id="368" r:id="rId8"/>
    <p:sldId id="369" r:id="rId9"/>
    <p:sldId id="370" r:id="rId10"/>
    <p:sldId id="371" r:id="rId11"/>
    <p:sldId id="372" r:id="rId12"/>
    <p:sldId id="35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1710" y="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550E5-0269-498B-A8E3-33FB500FE4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034A1-B980-4A2D-BFF5-7423DBAB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79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034A1-B980-4A2D-BFF5-7423DBAB97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45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7BF3BED-BBDD-276E-65EA-7E23DE6F1F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8" y="4183040"/>
            <a:ext cx="9144000" cy="1840701"/>
          </a:xfrm>
        </p:spPr>
        <p:txBody>
          <a:bodyPr lIns="0" rIns="0" anchor="t">
            <a:noAutofit/>
          </a:bodyPr>
          <a:lstStyle>
            <a:lvl1pPr algn="l">
              <a:defRPr sz="6400">
                <a:solidFill>
                  <a:srgbClr val="5D3531"/>
                </a:solidFill>
              </a:defRPr>
            </a:lvl1pPr>
          </a:lstStyle>
          <a:p>
            <a:r>
              <a:rPr lang="en-US" dirty="0"/>
              <a:t>Thank you for </a:t>
            </a:r>
            <a:br>
              <a:rPr lang="en-US" dirty="0"/>
            </a:br>
            <a:r>
              <a:rPr lang="en-US" dirty="0"/>
              <a:t>joining us today.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F66381-BD0D-22AD-10DD-B3C5425A78BC}"/>
              </a:ext>
            </a:extLst>
          </p:cNvPr>
          <p:cNvPicPr/>
          <p:nvPr userDrawn="1"/>
        </p:nvPicPr>
        <p:blipFill>
          <a:blip r:embed="rId3"/>
          <a:srcRect/>
          <a:stretch/>
        </p:blipFill>
        <p:spPr>
          <a:xfrm>
            <a:off x="363920" y="6440805"/>
            <a:ext cx="1198157" cy="33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947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80">
          <p15:clr>
            <a:srgbClr val="FBAE40"/>
          </p15:clr>
        </p15:guide>
        <p15:guide id="4" orient="horz" pos="37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00F347D-6E06-C23C-F454-5DA51AA109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341089" y="5848797"/>
            <a:ext cx="11160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b="0" i="0" dirty="0">
                <a:solidFill>
                  <a:srgbClr val="5D3531"/>
                </a:solidFill>
                <a:effectLst/>
                <a:latin typeface="Helvetica Light" panose="020B0403020202020204" pitchFamily="34" charset="0"/>
              </a:rPr>
              <a:t>cedars-</a:t>
            </a:r>
            <a:r>
              <a:rPr lang="en-US" sz="1000" b="0" i="0" dirty="0" err="1">
                <a:solidFill>
                  <a:srgbClr val="5D3531"/>
                </a:solidFill>
                <a:effectLst/>
                <a:latin typeface="Helvetica Light" panose="020B0403020202020204" pitchFamily="34" charset="0"/>
              </a:rPr>
              <a:t>sinai.org</a:t>
            </a:r>
            <a:endParaRPr lang="en-US" sz="1000" b="0" i="0" dirty="0">
              <a:solidFill>
                <a:srgbClr val="5D3531"/>
              </a:solidFill>
              <a:latin typeface="Helvetica Light" panose="020B0403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6B9B817-62F0-7891-C54A-43BA8159E5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127" y="1875010"/>
            <a:ext cx="9144000" cy="1840701"/>
          </a:xfrm>
        </p:spPr>
        <p:txBody>
          <a:bodyPr lIns="0" rIns="0" anchor="t">
            <a:noAutofit/>
          </a:bodyPr>
          <a:lstStyle>
            <a:lvl1pPr algn="l">
              <a:defRPr sz="6400">
                <a:solidFill>
                  <a:srgbClr val="5D353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B3CD14-5B56-F8D0-C54A-C2BF6C01A7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521638" y="5471271"/>
            <a:ext cx="3085198" cy="867712"/>
          </a:xfrm>
          <a:prstGeom prst="rect">
            <a:avLst/>
          </a:prstGeom>
        </p:spPr>
      </p:pic>
      <p:sp>
        <p:nvSpPr>
          <p:cNvPr id="4" name="Text Placeholder 38">
            <a:extLst>
              <a:ext uri="{FF2B5EF4-FFF2-40B4-BE49-F238E27FC236}">
                <a16:creationId xmlns:a16="http://schemas.microsoft.com/office/drawing/2014/main" id="{E80BDB35-5487-43DE-CBF4-D58E1C7712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1127" y="1344261"/>
            <a:ext cx="1595202" cy="231602"/>
          </a:xfrm>
        </p:spPr>
        <p:txBody>
          <a:bodyPr lIns="0" rIns="0">
            <a:spAutoFit/>
          </a:bodyPr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rgbClr val="5D3531"/>
                </a:solidFill>
                <a:latin typeface="Helvetica" pitchFamily="2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1" i="0" dirty="0">
                <a:latin typeface="Helvetica" pitchFamily="2" charset="0"/>
              </a:rPr>
              <a:t>Month XX, 2025</a:t>
            </a:r>
          </a:p>
        </p:txBody>
      </p:sp>
    </p:spTree>
    <p:extLst>
      <p:ext uri="{BB962C8B-B14F-4D97-AF65-F5344CB8AC3E}">
        <p14:creationId xmlns:p14="http://schemas.microsoft.com/office/powerpoint/2010/main" val="20830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52">
          <p15:clr>
            <a:srgbClr val="FBAE40"/>
          </p15:clr>
        </p15:guide>
        <p15:guide id="2" pos="528">
          <p15:clr>
            <a:srgbClr val="FBAE40"/>
          </p15:clr>
        </p15:guide>
        <p15:guide id="3" orient="horz" pos="528">
          <p15:clr>
            <a:srgbClr val="FBAE40"/>
          </p15:clr>
        </p15:guide>
        <p15:guide id="4" orient="horz" pos="37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847B51-1746-EC2D-B967-C65F0F6BE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126" y="1875010"/>
            <a:ext cx="9970271" cy="1840701"/>
          </a:xfrm>
        </p:spPr>
        <p:txBody>
          <a:bodyPr/>
          <a:lstStyle/>
          <a:p>
            <a:r>
              <a:rPr lang="en-US" sz="5400" dirty="0"/>
              <a:t>Confronting the Confusion </a:t>
            </a:r>
            <a:br>
              <a:rPr lang="en-US" sz="5400" dirty="0"/>
            </a:br>
            <a:r>
              <a:rPr lang="en-US" sz="5400" dirty="0"/>
              <a:t>Around Healthcare Bills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B5F24CB-422F-2676-D4DD-8D2ADAC738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1127" y="1344261"/>
            <a:ext cx="4938094" cy="774571"/>
          </a:xfrm>
        </p:spPr>
        <p:txBody>
          <a:bodyPr/>
          <a:lstStyle/>
          <a:p>
            <a:r>
              <a:rPr lang="en-US" dirty="0"/>
              <a:t>LMU MSBA × CEDARS-SINAI MEDICAL CENTER   |   2026 CAPSTONE</a:t>
            </a:r>
          </a:p>
          <a:p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61461" y="4170720"/>
            <a:ext cx="411480" cy="411480"/>
          </a:xfrm>
          <a:prstGeom prst="ellipse">
            <a:avLst/>
          </a:prstGeom>
          <a:solidFill>
            <a:srgbClr val="EA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1461" y="4170720"/>
            <a:ext cx="411480" cy="4114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0A0A0A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4381" y="4246460"/>
            <a:ext cx="3291840" cy="25346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Synthetic multi-modal</a:t>
            </a:r>
            <a:r>
              <a:rPr lang="en-US" sz="13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 </a:t>
            </a:r>
            <a:r>
              <a:rPr lang="en-US" sz="13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generation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861461" y="4711195"/>
            <a:ext cx="411480" cy="411480"/>
          </a:xfrm>
          <a:prstGeom prst="ellipse">
            <a:avLst/>
          </a:prstGeom>
          <a:solidFill>
            <a:srgbClr val="EA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1461" y="4747895"/>
            <a:ext cx="411480" cy="3034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 dirty="0">
                <a:solidFill>
                  <a:srgbClr val="0A0A0A"/>
                </a:solidFill>
                <a:latin typeface="Calibri"/>
              </a:rPr>
              <a:t>3</a:t>
            </a:r>
            <a:endParaRPr sz="1600" b="1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64381" y="4769603"/>
            <a:ext cx="3291840" cy="25346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Full-stack development</a:t>
            </a:r>
            <a:endParaRPr sz="1300" b="1" i="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296301" y="4170720"/>
            <a:ext cx="411480" cy="411480"/>
          </a:xfrm>
          <a:prstGeom prst="ellipse">
            <a:avLst/>
          </a:prstGeom>
          <a:solidFill>
            <a:srgbClr val="EA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99221" y="4246460"/>
            <a:ext cx="3291840" cy="25346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3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Agentic </a:t>
            </a:r>
            <a:r>
              <a:rPr lang="en-US"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harness engineering</a:t>
            </a:r>
            <a:endParaRPr sz="1300" b="1" i="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B4D43F-1C0E-147F-F23A-2429E3A65588}"/>
              </a:ext>
            </a:extLst>
          </p:cNvPr>
          <p:cNvSpPr txBox="1"/>
          <p:nvPr/>
        </p:nvSpPr>
        <p:spPr>
          <a:xfrm>
            <a:off x="5296301" y="4683819"/>
            <a:ext cx="411480" cy="4114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 dirty="0">
                <a:solidFill>
                  <a:srgbClr val="0A0A0A"/>
                </a:solidFill>
                <a:latin typeface="Calibri"/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E5495C-030C-7508-FBBA-E414698E01FC}"/>
              </a:ext>
            </a:extLst>
          </p:cNvPr>
          <p:cNvSpPr txBox="1"/>
          <p:nvPr/>
        </p:nvSpPr>
        <p:spPr>
          <a:xfrm>
            <a:off x="5799221" y="4759559"/>
            <a:ext cx="3291840" cy="25346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3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Business &amp; ROI project framing</a:t>
            </a:r>
            <a:endParaRPr sz="1300" b="1" i="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E915E9D-3747-C624-B52F-ACAD9A2D31A7}"/>
              </a:ext>
            </a:extLst>
          </p:cNvPr>
          <p:cNvSpPr/>
          <p:nvPr/>
        </p:nvSpPr>
        <p:spPr>
          <a:xfrm>
            <a:off x="5296301" y="4711343"/>
            <a:ext cx="411480" cy="411480"/>
          </a:xfrm>
          <a:prstGeom prst="ellipse">
            <a:avLst/>
          </a:prstGeom>
          <a:solidFill>
            <a:srgbClr val="EA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895E00-7F4B-3520-C2CE-1803FA2A27B8}"/>
              </a:ext>
            </a:extLst>
          </p:cNvPr>
          <p:cNvSpPr txBox="1"/>
          <p:nvPr/>
        </p:nvSpPr>
        <p:spPr>
          <a:xfrm>
            <a:off x="5296301" y="4224752"/>
            <a:ext cx="411480" cy="3034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 dirty="0">
                <a:solidFill>
                  <a:srgbClr val="0A0A0A"/>
                </a:solidFill>
                <a:latin typeface="Calibri"/>
              </a:rPr>
              <a:t>2</a:t>
            </a:r>
            <a:endParaRPr sz="1600" b="1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A46C9B-DBB6-21CA-60FC-CDB3DEE183D1}"/>
              </a:ext>
            </a:extLst>
          </p:cNvPr>
          <p:cNvSpPr txBox="1"/>
          <p:nvPr/>
        </p:nvSpPr>
        <p:spPr>
          <a:xfrm>
            <a:off x="5296301" y="4765375"/>
            <a:ext cx="411480" cy="3034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 dirty="0">
                <a:solidFill>
                  <a:srgbClr val="0A0A0A"/>
                </a:solidFill>
                <a:latin typeface="Calibri"/>
              </a:rPr>
              <a:t>4</a:t>
            </a:r>
            <a:endParaRPr sz="1600" b="1" i="0" dirty="0">
              <a:solidFill>
                <a:srgbClr val="0A0A0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1144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02920"/>
            <a:ext cx="164592" cy="3840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9601200" cy="436723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400" b="1" i="0" dirty="0">
                <a:solidFill>
                  <a:srgbClr val="0A0A0A"/>
                </a:solidFill>
                <a:latin typeface="Calibri"/>
              </a:rPr>
              <a:t>Capstone project proposal</a:t>
            </a:r>
            <a:r>
              <a:rPr sz="2400" b="1" i="0" dirty="0">
                <a:solidFill>
                  <a:srgbClr val="0A0A0A"/>
                </a:solidFill>
                <a:latin typeface="Calibri"/>
              </a:rPr>
              <a:t>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6400800" cy="237744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73152" cy="2377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603504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8102E"/>
                </a:solidFill>
                <a:latin typeface="Calibri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6035040" cy="34714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dirty="0">
                <a:solidFill>
                  <a:srgbClr val="0A0A0A"/>
                </a:solidFill>
                <a:latin typeface="Calibri"/>
              </a:rPr>
              <a:t>Hospital bills </a:t>
            </a:r>
            <a:r>
              <a:rPr lang="en-US" sz="1800" b="1" i="0" dirty="0">
                <a:solidFill>
                  <a:srgbClr val="0A0A0A"/>
                </a:solidFill>
                <a:latin typeface="Calibri"/>
              </a:rPr>
              <a:t>can be</a:t>
            </a:r>
            <a:r>
              <a:rPr sz="1800" b="1" i="0" dirty="0">
                <a:solidFill>
                  <a:srgbClr val="0A0A0A"/>
                </a:solidFill>
                <a:latin typeface="Calibri"/>
              </a:rPr>
              <a:t> stressful and confusing.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67386"/>
            <a:ext cx="6035040" cy="9601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 dirty="0">
                <a:solidFill>
                  <a:srgbClr val="2A2A2A"/>
                </a:solidFill>
                <a:latin typeface="Calibri"/>
              </a:rPr>
              <a:t>Build and validate an AI system that explains every line of a patient's bill, surfaces the right resources to call, and arms the patient with talking points and questions to ask each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234440"/>
            <a:ext cx="4690872" cy="23774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69480" y="1371600"/>
            <a:ext cx="429768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AE6E3"/>
                </a:solidFill>
                <a:latin typeface="Calibri"/>
              </a:rPr>
              <a:t>PROJECT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783080"/>
            <a:ext cx="141732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AE6E3"/>
                </a:solidFill>
                <a:latin typeface="Calibri"/>
              </a:rPr>
              <a:t>SPONSOR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1783080"/>
            <a:ext cx="292608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Cedars-Sinai Health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075688"/>
            <a:ext cx="141732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AE6E3"/>
                </a:solidFill>
                <a:latin typeface="Calibri"/>
              </a:rPr>
              <a:t>LIAISON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075688"/>
            <a:ext cx="292608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Matthew Wells, Mgr. Advanced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368296"/>
            <a:ext cx="141732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AE6E3"/>
                </a:solidFill>
                <a:latin typeface="Calibri"/>
              </a:rP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368296"/>
            <a:ext cx="2926080" cy="2201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dirty="0">
                <a:solidFill>
                  <a:srgbClr val="FFFFFF"/>
                </a:solidFill>
                <a:latin typeface="Calibri"/>
              </a:rPr>
              <a:t>LMU MSBA students + faculty advisor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660903"/>
            <a:ext cx="141732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AE6E3"/>
                </a:solidFill>
                <a:latin typeface="Calibri"/>
              </a:rPr>
              <a:t>CADENCE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660903"/>
            <a:ext cx="2926080" cy="2201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dirty="0">
                <a:solidFill>
                  <a:srgbClr val="FFFFFF"/>
                </a:solidFill>
                <a:latin typeface="Calibri"/>
              </a:rPr>
              <a:t>Agile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953511"/>
            <a:ext cx="141732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AE6E3"/>
                </a:solidFill>
                <a:latin typeface="Calibri"/>
              </a:rPr>
              <a:t>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953511"/>
            <a:ext cx="292608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May 18 — Aug 7, 2026 (12 weeks)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246119"/>
            <a:ext cx="141732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AE6E3"/>
                </a:solidFill>
                <a:latin typeface="Calibri"/>
              </a:rPr>
              <a:t>STACK CONSTRAINT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3246119"/>
            <a:ext cx="2926080" cy="2201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Python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, </a:t>
            </a:r>
            <a:r>
              <a:rPr lang="en-US" sz="1100" b="0" i="0" dirty="0">
                <a:solidFill>
                  <a:srgbClr val="FFFFFF"/>
                </a:solidFill>
                <a:latin typeface="Calibri"/>
              </a:rPr>
              <a:t>Sanic, Docker (</a:t>
            </a:r>
            <a:r>
              <a:rPr lang="en-US" sz="1100" dirty="0" err="1">
                <a:solidFill>
                  <a:srgbClr val="FFFFFF"/>
                </a:solidFill>
                <a:latin typeface="Calibri"/>
              </a:rPr>
              <a:t>m</a:t>
            </a:r>
            <a:r>
              <a:rPr lang="en-US" sz="1100" b="0" i="0" dirty="0" err="1">
                <a:solidFill>
                  <a:srgbClr val="FFFFFF"/>
                </a:solidFill>
                <a:latin typeface="Calibri"/>
              </a:rPr>
              <a:t>onorepo</a:t>
            </a:r>
            <a:r>
              <a:rPr lang="en-US" sz="1100" b="0" i="0" dirty="0">
                <a:solidFill>
                  <a:srgbClr val="FFFFFF"/>
                </a:solidFill>
                <a:latin typeface="Calibri"/>
              </a:rPr>
              <a:t>)</a:t>
            </a:r>
            <a:endParaRPr sz="11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8102E"/>
                </a:solidFill>
                <a:latin typeface="Calibri"/>
              </a:rPr>
              <a:t>KEY DATES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526280"/>
            <a:ext cx="10908792" cy="45720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30352" y="4416552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-137160" y="4709160"/>
            <a:ext cx="155448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A0A0A"/>
                </a:solidFill>
                <a:latin typeface="Calibri"/>
              </a:rPr>
              <a:t>Mar 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-228600" y="4983480"/>
            <a:ext cx="1737360" cy="2092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 dirty="0">
                <a:solidFill>
                  <a:srgbClr val="6E7072"/>
                </a:solidFill>
                <a:latin typeface="Calibri"/>
              </a:rPr>
              <a:t>Kickoff</a:t>
            </a:r>
          </a:p>
        </p:txBody>
      </p:sp>
      <p:sp>
        <p:nvSpPr>
          <p:cNvPr id="30" name="Oval 29"/>
          <p:cNvSpPr/>
          <p:nvPr/>
        </p:nvSpPr>
        <p:spPr>
          <a:xfrm>
            <a:off x="2712110" y="4416552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44598" y="4709160"/>
            <a:ext cx="155448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A0A0A"/>
                </a:solidFill>
                <a:latin typeface="Calibri"/>
              </a:rPr>
              <a:t>May 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3158" y="4983480"/>
            <a:ext cx="1737360" cy="2092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6E7072"/>
                </a:solidFill>
                <a:latin typeface="Calibri"/>
              </a:rPr>
              <a:t>Capstone</a:t>
            </a:r>
            <a:r>
              <a:rPr sz="1000" b="0" i="0" dirty="0">
                <a:solidFill>
                  <a:srgbClr val="6E7072"/>
                </a:solidFill>
                <a:latin typeface="Calibri"/>
              </a:rPr>
              <a:t> </a:t>
            </a:r>
            <a:r>
              <a:rPr lang="en-US" sz="1000" b="0" i="0" dirty="0">
                <a:solidFill>
                  <a:srgbClr val="6E7072"/>
                </a:solidFill>
                <a:latin typeface="Calibri"/>
              </a:rPr>
              <a:t>begins</a:t>
            </a:r>
            <a:endParaRPr sz="1000" b="0" i="0" dirty="0">
              <a:solidFill>
                <a:srgbClr val="6E7072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893868" y="4416552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26356" y="4709160"/>
            <a:ext cx="155448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A0A0A"/>
                </a:solidFill>
                <a:latin typeface="Calibri"/>
              </a:rPr>
              <a:t>Jun 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4916" y="4983480"/>
            <a:ext cx="173736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E7072"/>
                </a:solidFill>
                <a:latin typeface="Calibri"/>
              </a:rPr>
              <a:t>Kickoff presentation</a:t>
            </a:r>
          </a:p>
        </p:txBody>
      </p:sp>
      <p:sp>
        <p:nvSpPr>
          <p:cNvPr id="36" name="Oval 35"/>
          <p:cNvSpPr/>
          <p:nvPr/>
        </p:nvSpPr>
        <p:spPr>
          <a:xfrm>
            <a:off x="7075627" y="4416552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8115" y="4709160"/>
            <a:ext cx="155448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A0A0A"/>
                </a:solidFill>
                <a:latin typeface="Calibri"/>
              </a:rPr>
              <a:t>Jul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6675" y="4983480"/>
            <a:ext cx="173736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E7072"/>
                </a:solidFill>
                <a:latin typeface="Calibri"/>
              </a:rPr>
              <a:t>End-to-end MVP</a:t>
            </a:r>
          </a:p>
        </p:txBody>
      </p:sp>
      <p:sp>
        <p:nvSpPr>
          <p:cNvPr id="39" name="Oval 38"/>
          <p:cNvSpPr/>
          <p:nvPr/>
        </p:nvSpPr>
        <p:spPr>
          <a:xfrm>
            <a:off x="9257385" y="4416552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89873" y="4709160"/>
            <a:ext cx="155448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A0A0A"/>
                </a:solidFill>
                <a:latin typeface="Calibri"/>
              </a:rPr>
              <a:t>Aug 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8433" y="4983480"/>
            <a:ext cx="173736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E7072"/>
                </a:solidFill>
                <a:latin typeface="Calibri"/>
              </a:rPr>
              <a:t>Final presentation</a:t>
            </a:r>
          </a:p>
        </p:txBody>
      </p:sp>
      <p:sp>
        <p:nvSpPr>
          <p:cNvPr id="42" name="Oval 41"/>
          <p:cNvSpPr/>
          <p:nvPr/>
        </p:nvSpPr>
        <p:spPr>
          <a:xfrm>
            <a:off x="11439144" y="4416552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771632" y="4709160"/>
            <a:ext cx="155448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A0A0A"/>
                </a:solidFill>
                <a:latin typeface="Calibri"/>
              </a:rPr>
              <a:t>Aug 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80192" y="4983480"/>
            <a:ext cx="1737360" cy="2092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 dirty="0">
                <a:solidFill>
                  <a:srgbClr val="6E7072"/>
                </a:solidFill>
                <a:latin typeface="Calibri"/>
              </a:rPr>
              <a:t>Final </a:t>
            </a:r>
            <a:r>
              <a:rPr lang="en-US" sz="1000" dirty="0">
                <a:solidFill>
                  <a:srgbClr val="6E7072"/>
                </a:solidFill>
                <a:latin typeface="Calibri"/>
              </a:rPr>
              <a:t>handoff</a:t>
            </a:r>
            <a:endParaRPr sz="1000" b="0" i="0" dirty="0">
              <a:solidFill>
                <a:srgbClr val="6E7072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57200" y="5760720"/>
            <a:ext cx="11274552" cy="777240"/>
          </a:xfrm>
          <a:prstGeom prst="rect">
            <a:avLst/>
          </a:prstGeom>
          <a:solidFill>
            <a:srgbClr val="F1F1F1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5852160"/>
            <a:ext cx="10972800" cy="20351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dirty="0">
                <a:solidFill>
                  <a:srgbClr val="C8102E"/>
                </a:solidFill>
                <a:latin typeface="Calibri"/>
              </a:rPr>
              <a:t>STUDENT LEARNING OUTCOMES (</a:t>
            </a:r>
            <a:r>
              <a:rPr lang="en-US" sz="1000" b="1" i="0" dirty="0">
                <a:solidFill>
                  <a:srgbClr val="C8102E"/>
                </a:solidFill>
                <a:latin typeface="Calibri"/>
              </a:rPr>
              <a:t>FOUR</a:t>
            </a:r>
            <a:r>
              <a:rPr sz="1000" b="1" i="0" dirty="0">
                <a:solidFill>
                  <a:srgbClr val="C8102E"/>
                </a:solidFill>
                <a:latin typeface="Calibri"/>
              </a:rPr>
              <a:t> PILLARS)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126480"/>
            <a:ext cx="10972800" cy="27013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 dirty="0">
                <a:solidFill>
                  <a:srgbClr val="0A0A0A"/>
                </a:solidFill>
                <a:latin typeface="Calibri"/>
              </a:rPr>
              <a:t>Synthetic multi-modal data generation   ·   Agentic harness engineering   ·   Full </a:t>
            </a:r>
            <a:r>
              <a:rPr lang="en-US" sz="1400" b="1" i="0" dirty="0">
                <a:solidFill>
                  <a:srgbClr val="0A0A0A"/>
                </a:solidFill>
                <a:latin typeface="Calibri"/>
              </a:rPr>
              <a:t>stack</a:t>
            </a:r>
            <a:r>
              <a:rPr sz="1400" b="1" i="0" dirty="0">
                <a:solidFill>
                  <a:srgbClr val="0A0A0A"/>
                </a:solidFill>
                <a:latin typeface="Calibri"/>
              </a:rPr>
              <a:t> </a:t>
            </a:r>
            <a:r>
              <a:rPr lang="en-US" sz="1400" b="1" dirty="0">
                <a:solidFill>
                  <a:srgbClr val="0A0A0A"/>
                </a:solidFill>
              </a:rPr>
              <a:t>development   ·   Business &amp; ROI project framing</a:t>
            </a:r>
            <a:endParaRPr sz="1400" b="1" i="0" dirty="0">
              <a:solidFill>
                <a:srgbClr val="0A0A0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124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02920"/>
            <a:ext cx="164592" cy="3840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960120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 dirty="0">
                <a:solidFill>
                  <a:srgbClr val="0A0A0A"/>
                </a:solidFill>
                <a:latin typeface="Calibri"/>
              </a:rPr>
              <a:t>Why this project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94360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8102E"/>
                </a:solidFill>
                <a:latin typeface="Calibri"/>
              </a:rPr>
              <a:t>The patient's experience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035040" cy="286886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 i="0" dirty="0">
                <a:solidFill>
                  <a:srgbClr val="2A2A2A"/>
                </a:solidFill>
                <a:latin typeface="Calibri"/>
              </a:rPr>
              <a:t>A bill arrives weeks after a hospital stay. Patients face a wall of codes, modifiers, line items, adjustments, and "patient responsibility" totals</a:t>
            </a:r>
            <a:r>
              <a:rPr lang="en-US" sz="1300" b="0" i="0" dirty="0">
                <a:solidFill>
                  <a:srgbClr val="2A2A2A"/>
                </a:solidFill>
                <a:latin typeface="Calibri"/>
              </a:rPr>
              <a:t>,</a:t>
            </a:r>
            <a:r>
              <a:rPr sz="1300" b="0" i="0" dirty="0">
                <a:solidFill>
                  <a:srgbClr val="2A2A2A"/>
                </a:solidFill>
                <a:latin typeface="Calibri"/>
              </a:rPr>
              <a:t> often from multiple parties (hospital, insurer, third-party labs).</a:t>
            </a:r>
            <a:endParaRPr lang="en-US" sz="1300" b="0" i="0" dirty="0">
              <a:solidFill>
                <a:srgbClr val="2A2A2A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endParaRPr sz="1300" b="0" i="0" dirty="0">
              <a:solidFill>
                <a:srgbClr val="2A2A2A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 i="0" dirty="0">
                <a:solidFill>
                  <a:srgbClr val="2A2A2A"/>
                </a:solidFill>
                <a:latin typeface="Calibri"/>
              </a:rPr>
              <a:t>Even people who work inside healthcare </a:t>
            </a:r>
            <a:r>
              <a:rPr lang="en-US" sz="1300" b="0" i="0" dirty="0">
                <a:solidFill>
                  <a:srgbClr val="2A2A2A"/>
                </a:solidFill>
                <a:latin typeface="Calibri"/>
              </a:rPr>
              <a:t>organizations still occasionally </a:t>
            </a:r>
            <a:r>
              <a:rPr sz="1300" b="0" i="0" dirty="0">
                <a:solidFill>
                  <a:srgbClr val="2A2A2A"/>
                </a:solidFill>
                <a:latin typeface="Calibri"/>
              </a:rPr>
              <a:t>struggle to read these documents. Confusion drives anxiety, late payments, calls to billing, and erodes trust in the system.</a:t>
            </a:r>
            <a:endParaRPr lang="en-US" sz="1300" b="0" i="0" dirty="0">
              <a:solidFill>
                <a:srgbClr val="2A2A2A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endParaRPr sz="1300" b="0" i="0" dirty="0">
              <a:solidFill>
                <a:srgbClr val="2A2A2A"/>
              </a:solidFill>
              <a:latin typeface="Calibri"/>
            </a:endParaRPr>
          </a:p>
          <a:p>
            <a:pPr algn="l">
              <a:lnSpc>
                <a:spcPct val="120000"/>
              </a:lnSpc>
            </a:pPr>
            <a:r>
              <a:rPr sz="1300" b="0" i="1" dirty="0">
                <a:solidFill>
                  <a:srgbClr val="C8102E"/>
                </a:solidFill>
                <a:latin typeface="Calibri"/>
              </a:rPr>
              <a:t>Cedars-Sinai's revenue cycle organization wants to make the financial experience as humane </a:t>
            </a:r>
            <a:r>
              <a:rPr lang="en-US" sz="1300" b="0" i="1" dirty="0">
                <a:solidFill>
                  <a:srgbClr val="C8102E"/>
                </a:solidFill>
                <a:latin typeface="Calibri"/>
              </a:rPr>
              <a:t>and supportive </a:t>
            </a:r>
            <a:r>
              <a:rPr sz="1300" b="0" i="1" dirty="0">
                <a:solidFill>
                  <a:srgbClr val="C8102E"/>
                </a:solidFill>
                <a:latin typeface="Calibri"/>
              </a:rPr>
              <a:t>as the clinical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280160"/>
            <a:ext cx="5029200" cy="370101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000" b="1" i="0" dirty="0">
                <a:solidFill>
                  <a:srgbClr val="C8102E"/>
                </a:solidFill>
                <a:latin typeface="Calibri"/>
              </a:rPr>
              <a:t>Our AI-driven opportunities</a:t>
            </a:r>
            <a:endParaRPr sz="2000" b="1" i="0" dirty="0">
              <a:solidFill>
                <a:srgbClr val="C8102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66560" y="1828800"/>
            <a:ext cx="5029200" cy="123444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6560" y="1828800"/>
            <a:ext cx="73152" cy="12344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0" y="1947672"/>
            <a:ext cx="466344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0A0A"/>
                </a:solidFill>
                <a:latin typeface="Calibri"/>
              </a:rPr>
              <a:t>Decoding the bill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286000"/>
            <a:ext cx="466344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Plain-language explanations for every line item, code, and adjustment.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200400"/>
            <a:ext cx="5029200" cy="123444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0" y="3200400"/>
            <a:ext cx="73152" cy="12344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0" y="3319272"/>
            <a:ext cx="466344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0A0A"/>
                </a:solidFill>
                <a:latin typeface="Calibri"/>
              </a:rPr>
              <a:t>Knowing who to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657600"/>
            <a:ext cx="4663440" cy="239233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solidFill>
                  <a:srgbClr val="2A2A2A"/>
                </a:solidFill>
                <a:latin typeface="Calibri"/>
              </a:rPr>
              <a:t>A list of resources</a:t>
            </a:r>
            <a:r>
              <a:rPr lang="en-US" sz="1100" b="0" i="0" dirty="0">
                <a:solidFill>
                  <a:srgbClr val="2A2A2A"/>
                </a:solidFill>
                <a:latin typeface="Calibri"/>
              </a:rPr>
              <a:t> </a:t>
            </a:r>
            <a:r>
              <a:rPr lang="en-US" sz="1100" dirty="0">
                <a:solidFill>
                  <a:srgbClr val="2A2A2A"/>
                </a:solidFill>
                <a:latin typeface="Calibri"/>
              </a:rPr>
              <a:t>like </a:t>
            </a:r>
            <a:r>
              <a:rPr sz="1100" b="0" i="0" dirty="0">
                <a:solidFill>
                  <a:srgbClr val="2A2A2A"/>
                </a:solidFill>
                <a:latin typeface="Calibri"/>
              </a:rPr>
              <a:t>Cedars billing, insurer, ombudsman, financial assistance.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572000"/>
            <a:ext cx="5029200" cy="123444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66560" y="4572000"/>
            <a:ext cx="73152" cy="12344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0" y="4690872"/>
            <a:ext cx="466344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0A0A"/>
                </a:solidFill>
                <a:latin typeface="Calibri"/>
              </a:rPr>
              <a:t>Knowing what to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5029200"/>
            <a:ext cx="466344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Tailored talking points and questions for each resource, tied to that patient's bill.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080760"/>
            <a:ext cx="11274552" cy="5029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6213790"/>
            <a:ext cx="10972800" cy="2368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EAE6E3"/>
                </a:solidFill>
                <a:latin typeface="Calibri"/>
              </a:rPr>
              <a:t>Business impact: ↑ patient satisfaction · ↓ inbound billing call volume · ↑ trust during </a:t>
            </a:r>
            <a:r>
              <a:rPr lang="en-US" sz="1200" b="1" i="0" dirty="0">
                <a:solidFill>
                  <a:srgbClr val="EAE6E3"/>
                </a:solidFill>
                <a:latin typeface="Calibri"/>
              </a:rPr>
              <a:t>one of </a:t>
            </a:r>
            <a:r>
              <a:rPr sz="1200" b="1" i="0" dirty="0">
                <a:solidFill>
                  <a:srgbClr val="EAE6E3"/>
                </a:solidFill>
                <a:latin typeface="Calibri"/>
              </a:rPr>
              <a:t>the most stressful moment</a:t>
            </a:r>
            <a:r>
              <a:rPr lang="en-US" sz="1200" b="1" i="0" dirty="0">
                <a:solidFill>
                  <a:srgbClr val="EAE6E3"/>
                </a:solidFill>
                <a:latin typeface="Calibri"/>
              </a:rPr>
              <a:t>s</a:t>
            </a:r>
            <a:r>
              <a:rPr sz="1200" b="1" i="0" dirty="0">
                <a:solidFill>
                  <a:srgbClr val="EAE6E3"/>
                </a:solidFill>
                <a:latin typeface="Calibri"/>
              </a:rPr>
              <a:t> of the patient journey.</a:t>
            </a:r>
          </a:p>
        </p:txBody>
      </p:sp>
    </p:spTree>
    <p:extLst>
      <p:ext uri="{BB962C8B-B14F-4D97-AF65-F5344CB8AC3E}">
        <p14:creationId xmlns:p14="http://schemas.microsoft.com/office/powerpoint/2010/main" val="2356921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02920"/>
            <a:ext cx="164592" cy="3840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9601200" cy="436723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A0A0A"/>
                </a:solidFill>
                <a:latin typeface="Calibri"/>
              </a:rPr>
              <a:t>Anatomy of a real Cedars-Sinai bill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DEC34C-D53F-6DBB-4C37-346991BC9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1168400"/>
            <a:ext cx="3860800" cy="4826000"/>
          </a:xfrm>
          <a:prstGeom prst="rect">
            <a:avLst/>
          </a:prstGeom>
        </p:spPr>
      </p:pic>
      <p:sp>
        <p:nvSpPr>
          <p:cNvPr id="9" name="BillIntro">
            <a:extLst>
              <a:ext uri="{FF2B5EF4-FFF2-40B4-BE49-F238E27FC236}">
                <a16:creationId xmlns:a16="http://schemas.microsoft.com/office/drawing/2014/main" id="{5F854724-AC7E-4A25-8083-863805934ECF}"/>
              </a:ext>
            </a:extLst>
          </p:cNvPr>
          <p:cNvSpPr txBox="1"/>
          <p:nvPr/>
        </p:nvSpPr>
        <p:spPr>
          <a:xfrm>
            <a:off x="4800600" y="1168400"/>
            <a:ext cx="70104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dirty="0">
                <a:solidFill>
                  <a:srgbClr val="2A2A2A"/>
                </a:solidFill>
                <a:latin typeface="Calibri"/>
              </a:rPr>
              <a:t>Patients</a:t>
            </a:r>
            <a:r>
              <a:rPr lang="en-US" sz="1400" dirty="0">
                <a:solidFill>
                  <a:srgbClr val="2A2A2A"/>
                </a:solidFill>
                <a:latin typeface="Calibri"/>
              </a:rPr>
              <a:t> generally</a:t>
            </a:r>
            <a:r>
              <a:rPr sz="1400" dirty="0">
                <a:solidFill>
                  <a:srgbClr val="2A2A2A"/>
                </a:solidFill>
                <a:latin typeface="Calibri"/>
              </a:rPr>
              <a:t> understand </a:t>
            </a:r>
            <a:r>
              <a:rPr sz="1400" b="1" dirty="0">
                <a:solidFill>
                  <a:srgbClr val="0A0A0A"/>
                </a:solidFill>
                <a:latin typeface="Calibri"/>
              </a:rPr>
              <a:t>D</a:t>
            </a:r>
            <a:r>
              <a:rPr sz="1400" dirty="0">
                <a:solidFill>
                  <a:srgbClr val="2A2A2A"/>
                </a:solidFill>
                <a:latin typeface="Calibri"/>
              </a:rPr>
              <a:t> and </a:t>
            </a:r>
            <a:r>
              <a:rPr sz="1400" b="1" dirty="0">
                <a:solidFill>
                  <a:srgbClr val="0A0A0A"/>
                </a:solidFill>
                <a:latin typeface="Calibri"/>
              </a:rPr>
              <a:t>E</a:t>
            </a:r>
            <a:r>
              <a:rPr sz="1400" dirty="0">
                <a:solidFill>
                  <a:srgbClr val="2A2A2A"/>
                </a:solidFill>
                <a:latin typeface="Calibri"/>
              </a:rPr>
              <a:t>; the rest is where most questions come from.</a:t>
            </a:r>
          </a:p>
        </p:txBody>
      </p:sp>
      <p:sp>
        <p:nvSpPr>
          <p:cNvPr id="10" name="Circle_A">
            <a:extLst>
              <a:ext uri="{FF2B5EF4-FFF2-40B4-BE49-F238E27FC236}">
                <a16:creationId xmlns:a16="http://schemas.microsoft.com/office/drawing/2014/main" id="{BDC0A199-87B7-4CC0-9AB6-88C78C611E42}"/>
              </a:ext>
            </a:extLst>
          </p:cNvPr>
          <p:cNvSpPr/>
          <p:nvPr/>
        </p:nvSpPr>
        <p:spPr>
          <a:xfrm>
            <a:off x="4800600" y="1905000"/>
            <a:ext cx="279400" cy="279400"/>
          </a:xfrm>
          <a:prstGeom prst="ellipse">
            <a:avLst/>
          </a:prstGeom>
          <a:solidFill>
            <a:srgbClr val="C810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abel_A">
            <a:extLst>
              <a:ext uri="{FF2B5EF4-FFF2-40B4-BE49-F238E27FC236}">
                <a16:creationId xmlns:a16="http://schemas.microsoft.com/office/drawing/2014/main" id="{305BA3CE-CF6B-4279-BA53-AD8E627074D4}"/>
              </a:ext>
            </a:extLst>
          </p:cNvPr>
          <p:cNvSpPr txBox="1"/>
          <p:nvPr/>
        </p:nvSpPr>
        <p:spPr>
          <a:xfrm>
            <a:off x="5181600" y="18923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Calibri"/>
              </a:rPr>
              <a:t>Pay options &amp; address</a:t>
            </a:r>
          </a:p>
        </p:txBody>
      </p:sp>
      <p:sp>
        <p:nvSpPr>
          <p:cNvPr id="12" name="Desc_A">
            <a:extLst>
              <a:ext uri="{FF2B5EF4-FFF2-40B4-BE49-F238E27FC236}">
                <a16:creationId xmlns:a16="http://schemas.microsoft.com/office/drawing/2014/main" id="{BE84232E-62A9-4CEF-A504-0E542BF09409}"/>
              </a:ext>
            </a:extLst>
          </p:cNvPr>
          <p:cNvSpPr txBox="1"/>
          <p:nvPr/>
        </p:nvSpPr>
        <p:spPr>
          <a:xfrm>
            <a:off x="5181600" y="2159000"/>
            <a:ext cx="304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A3A3A"/>
                </a:solidFill>
                <a:latin typeface="Calibri"/>
              </a:rPr>
              <a:t>Online, phone, and mailing details for sending payment.</a:t>
            </a:r>
          </a:p>
        </p:txBody>
      </p:sp>
      <p:sp>
        <p:nvSpPr>
          <p:cNvPr id="13" name="Circle_B">
            <a:extLst>
              <a:ext uri="{FF2B5EF4-FFF2-40B4-BE49-F238E27FC236}">
                <a16:creationId xmlns:a16="http://schemas.microsoft.com/office/drawing/2014/main" id="{596AEAA9-38A8-4FE8-A655-0F3BCEF70711}"/>
              </a:ext>
            </a:extLst>
          </p:cNvPr>
          <p:cNvSpPr/>
          <p:nvPr/>
        </p:nvSpPr>
        <p:spPr>
          <a:xfrm>
            <a:off x="8382000" y="1905000"/>
            <a:ext cx="279400" cy="279400"/>
          </a:xfrm>
          <a:prstGeom prst="ellipse">
            <a:avLst/>
          </a:prstGeom>
          <a:solidFill>
            <a:srgbClr val="C810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abel_B">
            <a:extLst>
              <a:ext uri="{FF2B5EF4-FFF2-40B4-BE49-F238E27FC236}">
                <a16:creationId xmlns:a16="http://schemas.microsoft.com/office/drawing/2014/main" id="{7ABA511C-A19A-4203-BAF5-FD62353B3713}"/>
              </a:ext>
            </a:extLst>
          </p:cNvPr>
          <p:cNvSpPr txBox="1"/>
          <p:nvPr/>
        </p:nvSpPr>
        <p:spPr>
          <a:xfrm>
            <a:off x="8763000" y="18923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Calibri"/>
              </a:rPr>
              <a:t>Guarantor section</a:t>
            </a:r>
          </a:p>
        </p:txBody>
      </p:sp>
      <p:sp>
        <p:nvSpPr>
          <p:cNvPr id="15" name="Desc_B">
            <a:extLst>
              <a:ext uri="{FF2B5EF4-FFF2-40B4-BE49-F238E27FC236}">
                <a16:creationId xmlns:a16="http://schemas.microsoft.com/office/drawing/2014/main" id="{10B4F0F8-D2C5-4DE4-9381-C9417049B42B}"/>
              </a:ext>
            </a:extLst>
          </p:cNvPr>
          <p:cNvSpPr txBox="1"/>
          <p:nvPr/>
        </p:nvSpPr>
        <p:spPr>
          <a:xfrm>
            <a:off x="8763000" y="2159000"/>
            <a:ext cx="304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A3A3A"/>
                </a:solidFill>
                <a:latin typeface="Calibri"/>
              </a:rPr>
              <a:t>Header marking the financially responsible party for this account.</a:t>
            </a:r>
          </a:p>
        </p:txBody>
      </p:sp>
      <p:sp>
        <p:nvSpPr>
          <p:cNvPr id="16" name="Circle_C">
            <a:extLst>
              <a:ext uri="{FF2B5EF4-FFF2-40B4-BE49-F238E27FC236}">
                <a16:creationId xmlns:a16="http://schemas.microsoft.com/office/drawing/2014/main" id="{172EC41B-775B-48E1-8D9B-9AD961BCD1C5}"/>
              </a:ext>
            </a:extLst>
          </p:cNvPr>
          <p:cNvSpPr/>
          <p:nvPr/>
        </p:nvSpPr>
        <p:spPr>
          <a:xfrm>
            <a:off x="4800600" y="2921000"/>
            <a:ext cx="279400" cy="279400"/>
          </a:xfrm>
          <a:prstGeom prst="ellipse">
            <a:avLst/>
          </a:prstGeom>
          <a:solidFill>
            <a:srgbClr val="C810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7" name="Label_C">
            <a:extLst>
              <a:ext uri="{FF2B5EF4-FFF2-40B4-BE49-F238E27FC236}">
                <a16:creationId xmlns:a16="http://schemas.microsoft.com/office/drawing/2014/main" id="{67DFD565-1DB1-4C56-B887-7C3F9650538E}"/>
              </a:ext>
            </a:extLst>
          </p:cNvPr>
          <p:cNvSpPr txBox="1"/>
          <p:nvPr/>
        </p:nvSpPr>
        <p:spPr>
          <a:xfrm>
            <a:off x="5181600" y="29083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Calibri"/>
              </a:rPr>
              <a:t>Guarantor name &amp; number</a:t>
            </a:r>
          </a:p>
        </p:txBody>
      </p:sp>
      <p:sp>
        <p:nvSpPr>
          <p:cNvPr id="18" name="Desc_C">
            <a:extLst>
              <a:ext uri="{FF2B5EF4-FFF2-40B4-BE49-F238E27FC236}">
                <a16:creationId xmlns:a16="http://schemas.microsoft.com/office/drawing/2014/main" id="{124C6E4B-FA32-4F88-8D8B-1ED0B2B2454B}"/>
              </a:ext>
            </a:extLst>
          </p:cNvPr>
          <p:cNvSpPr txBox="1"/>
          <p:nvPr/>
        </p:nvSpPr>
        <p:spPr>
          <a:xfrm>
            <a:off x="5181600" y="3175000"/>
            <a:ext cx="304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A3A3A"/>
                </a:solidFill>
                <a:latin typeface="Calibri"/>
              </a:rPr>
              <a:t>Who’s on the hook and the account ID used in every call.</a:t>
            </a:r>
          </a:p>
        </p:txBody>
      </p:sp>
      <p:sp>
        <p:nvSpPr>
          <p:cNvPr id="19" name="Circle_D">
            <a:extLst>
              <a:ext uri="{FF2B5EF4-FFF2-40B4-BE49-F238E27FC236}">
                <a16:creationId xmlns:a16="http://schemas.microsoft.com/office/drawing/2014/main" id="{80B02B3D-399A-4BAD-95C2-19E2CA721000}"/>
              </a:ext>
            </a:extLst>
          </p:cNvPr>
          <p:cNvSpPr/>
          <p:nvPr/>
        </p:nvSpPr>
        <p:spPr>
          <a:xfrm>
            <a:off x="8382000" y="2921000"/>
            <a:ext cx="279400" cy="279400"/>
          </a:xfrm>
          <a:prstGeom prst="ellipse">
            <a:avLst/>
          </a:prstGeom>
          <a:solidFill>
            <a:srgbClr val="C810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0" name="Label_D">
            <a:extLst>
              <a:ext uri="{FF2B5EF4-FFF2-40B4-BE49-F238E27FC236}">
                <a16:creationId xmlns:a16="http://schemas.microsoft.com/office/drawing/2014/main" id="{52B086E6-9323-4BD8-B1C3-5F7938F8B765}"/>
              </a:ext>
            </a:extLst>
          </p:cNvPr>
          <p:cNvSpPr txBox="1"/>
          <p:nvPr/>
        </p:nvSpPr>
        <p:spPr>
          <a:xfrm>
            <a:off x="8763000" y="29083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Calibri"/>
              </a:rPr>
              <a:t>Account summary</a:t>
            </a:r>
          </a:p>
        </p:txBody>
      </p:sp>
      <p:sp>
        <p:nvSpPr>
          <p:cNvPr id="39" name="Desc_D">
            <a:extLst>
              <a:ext uri="{FF2B5EF4-FFF2-40B4-BE49-F238E27FC236}">
                <a16:creationId xmlns:a16="http://schemas.microsoft.com/office/drawing/2014/main" id="{26A8561A-FAE7-4465-8696-FBF1B8B4D970}"/>
              </a:ext>
            </a:extLst>
          </p:cNvPr>
          <p:cNvSpPr txBox="1"/>
          <p:nvPr/>
        </p:nvSpPr>
        <p:spPr>
          <a:xfrm>
            <a:off x="8763000" y="3175000"/>
            <a:ext cx="304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A3A3A"/>
                </a:solidFill>
                <a:latin typeface="Calibri"/>
              </a:rPr>
              <a:t>Charges grouped by physician vs. hospital services with running balance.</a:t>
            </a:r>
          </a:p>
        </p:txBody>
      </p:sp>
      <p:sp>
        <p:nvSpPr>
          <p:cNvPr id="40" name="Circle_E">
            <a:extLst>
              <a:ext uri="{FF2B5EF4-FFF2-40B4-BE49-F238E27FC236}">
                <a16:creationId xmlns:a16="http://schemas.microsoft.com/office/drawing/2014/main" id="{E46F2EBF-6ADF-44C1-AEAA-31C10A331D14}"/>
              </a:ext>
            </a:extLst>
          </p:cNvPr>
          <p:cNvSpPr/>
          <p:nvPr/>
        </p:nvSpPr>
        <p:spPr>
          <a:xfrm>
            <a:off x="4800600" y="3937000"/>
            <a:ext cx="279400" cy="279400"/>
          </a:xfrm>
          <a:prstGeom prst="ellipse">
            <a:avLst/>
          </a:prstGeom>
          <a:solidFill>
            <a:srgbClr val="C810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41" name="Label_E">
            <a:extLst>
              <a:ext uri="{FF2B5EF4-FFF2-40B4-BE49-F238E27FC236}">
                <a16:creationId xmlns:a16="http://schemas.microsoft.com/office/drawing/2014/main" id="{A5707355-4686-404E-83D0-216B07402D7E}"/>
              </a:ext>
            </a:extLst>
          </p:cNvPr>
          <p:cNvSpPr txBox="1"/>
          <p:nvPr/>
        </p:nvSpPr>
        <p:spPr>
          <a:xfrm>
            <a:off x="5181600" y="39243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Calibri"/>
              </a:rPr>
              <a:t>Total amount due</a:t>
            </a:r>
          </a:p>
        </p:txBody>
      </p:sp>
      <p:sp>
        <p:nvSpPr>
          <p:cNvPr id="42" name="Desc_E">
            <a:extLst>
              <a:ext uri="{FF2B5EF4-FFF2-40B4-BE49-F238E27FC236}">
                <a16:creationId xmlns:a16="http://schemas.microsoft.com/office/drawing/2014/main" id="{F1378C7F-AC53-42DF-89A2-DF418C6CCB9E}"/>
              </a:ext>
            </a:extLst>
          </p:cNvPr>
          <p:cNvSpPr txBox="1"/>
          <p:nvPr/>
        </p:nvSpPr>
        <p:spPr>
          <a:xfrm>
            <a:off x="5181600" y="4191000"/>
            <a:ext cx="304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A3A3A"/>
                </a:solidFill>
                <a:latin typeface="Calibri"/>
              </a:rPr>
              <a:t>Single number patients zero in on first; what they’re asked to pay now.</a:t>
            </a:r>
          </a:p>
        </p:txBody>
      </p:sp>
      <p:sp>
        <p:nvSpPr>
          <p:cNvPr id="43" name="Circle_F">
            <a:extLst>
              <a:ext uri="{FF2B5EF4-FFF2-40B4-BE49-F238E27FC236}">
                <a16:creationId xmlns:a16="http://schemas.microsoft.com/office/drawing/2014/main" id="{996B63AA-5A78-48C4-BCB1-90751B99AF3A}"/>
              </a:ext>
            </a:extLst>
          </p:cNvPr>
          <p:cNvSpPr/>
          <p:nvPr/>
        </p:nvSpPr>
        <p:spPr>
          <a:xfrm>
            <a:off x="8382000" y="3937000"/>
            <a:ext cx="279400" cy="279400"/>
          </a:xfrm>
          <a:prstGeom prst="ellipse">
            <a:avLst/>
          </a:prstGeom>
          <a:solidFill>
            <a:srgbClr val="C810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44" name="Label_F">
            <a:extLst>
              <a:ext uri="{FF2B5EF4-FFF2-40B4-BE49-F238E27FC236}">
                <a16:creationId xmlns:a16="http://schemas.microsoft.com/office/drawing/2014/main" id="{06D0CADF-F256-484E-9944-E126C53B2F4E}"/>
              </a:ext>
            </a:extLst>
          </p:cNvPr>
          <p:cNvSpPr txBox="1"/>
          <p:nvPr/>
        </p:nvSpPr>
        <p:spPr>
          <a:xfrm>
            <a:off x="8763000" y="39243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Calibri"/>
              </a:rPr>
              <a:t>Patient services contact</a:t>
            </a:r>
          </a:p>
        </p:txBody>
      </p:sp>
      <p:sp>
        <p:nvSpPr>
          <p:cNvPr id="45" name="Desc_F">
            <a:extLst>
              <a:ext uri="{FF2B5EF4-FFF2-40B4-BE49-F238E27FC236}">
                <a16:creationId xmlns:a16="http://schemas.microsoft.com/office/drawing/2014/main" id="{611A7621-61CA-4802-8015-38292AC004BC}"/>
              </a:ext>
            </a:extLst>
          </p:cNvPr>
          <p:cNvSpPr txBox="1"/>
          <p:nvPr/>
        </p:nvSpPr>
        <p:spPr>
          <a:xfrm>
            <a:off x="8763000" y="4191000"/>
            <a:ext cx="304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A3A3A"/>
                </a:solidFill>
                <a:latin typeface="Calibri"/>
              </a:rPr>
              <a:t>Phone, hours, and email to ask questions or request financial assistance.</a:t>
            </a:r>
          </a:p>
        </p:txBody>
      </p:sp>
      <p:sp>
        <p:nvSpPr>
          <p:cNvPr id="46" name="Circle_G">
            <a:extLst>
              <a:ext uri="{FF2B5EF4-FFF2-40B4-BE49-F238E27FC236}">
                <a16:creationId xmlns:a16="http://schemas.microsoft.com/office/drawing/2014/main" id="{3138DCA6-BC7B-4268-8840-6035808E9099}"/>
              </a:ext>
            </a:extLst>
          </p:cNvPr>
          <p:cNvSpPr/>
          <p:nvPr/>
        </p:nvSpPr>
        <p:spPr>
          <a:xfrm>
            <a:off x="4800600" y="4953000"/>
            <a:ext cx="279400" cy="279400"/>
          </a:xfrm>
          <a:prstGeom prst="ellipse">
            <a:avLst/>
          </a:prstGeom>
          <a:solidFill>
            <a:srgbClr val="C810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47" name="Label_G">
            <a:extLst>
              <a:ext uri="{FF2B5EF4-FFF2-40B4-BE49-F238E27FC236}">
                <a16:creationId xmlns:a16="http://schemas.microsoft.com/office/drawing/2014/main" id="{80A9F434-69DE-4D91-8F19-57C564516F00}"/>
              </a:ext>
            </a:extLst>
          </p:cNvPr>
          <p:cNvSpPr txBox="1"/>
          <p:nvPr/>
        </p:nvSpPr>
        <p:spPr>
          <a:xfrm>
            <a:off x="5181600" y="49403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Calibri"/>
              </a:rPr>
              <a:t>Plain-language notes</a:t>
            </a:r>
          </a:p>
        </p:txBody>
      </p:sp>
      <p:sp>
        <p:nvSpPr>
          <p:cNvPr id="48" name="Desc_G">
            <a:extLst>
              <a:ext uri="{FF2B5EF4-FFF2-40B4-BE49-F238E27FC236}">
                <a16:creationId xmlns:a16="http://schemas.microsoft.com/office/drawing/2014/main" id="{A96AB40D-27D5-44DE-BA19-2A9F09A5A4FC}"/>
              </a:ext>
            </a:extLst>
          </p:cNvPr>
          <p:cNvSpPr txBox="1"/>
          <p:nvPr/>
        </p:nvSpPr>
        <p:spPr>
          <a:xfrm>
            <a:off x="5181600" y="5207000"/>
            <a:ext cx="304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A3A3A"/>
                </a:solidFill>
                <a:latin typeface="Calibri"/>
              </a:rPr>
              <a:t>Bullets explaining insurance status, discounts, and assistance options.</a:t>
            </a:r>
          </a:p>
        </p:txBody>
      </p:sp>
      <p:sp>
        <p:nvSpPr>
          <p:cNvPr id="49" name="Circle_H">
            <a:extLst>
              <a:ext uri="{FF2B5EF4-FFF2-40B4-BE49-F238E27FC236}">
                <a16:creationId xmlns:a16="http://schemas.microsoft.com/office/drawing/2014/main" id="{F28195C4-32AB-466A-B528-C9BB1BF93AE8}"/>
              </a:ext>
            </a:extLst>
          </p:cNvPr>
          <p:cNvSpPr/>
          <p:nvPr/>
        </p:nvSpPr>
        <p:spPr>
          <a:xfrm>
            <a:off x="8382000" y="4953000"/>
            <a:ext cx="279400" cy="279400"/>
          </a:xfrm>
          <a:prstGeom prst="ellipse">
            <a:avLst/>
          </a:prstGeom>
          <a:solidFill>
            <a:srgbClr val="C810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50" name="Label_H">
            <a:extLst>
              <a:ext uri="{FF2B5EF4-FFF2-40B4-BE49-F238E27FC236}">
                <a16:creationId xmlns:a16="http://schemas.microsoft.com/office/drawing/2014/main" id="{9155F248-E5C8-4C16-8BA8-FEA4D338C308}"/>
              </a:ext>
            </a:extLst>
          </p:cNvPr>
          <p:cNvSpPr txBox="1"/>
          <p:nvPr/>
        </p:nvSpPr>
        <p:spPr>
          <a:xfrm>
            <a:off x="8763000" y="49403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Calibri"/>
              </a:rPr>
              <a:t>Remittance stub</a:t>
            </a:r>
          </a:p>
        </p:txBody>
      </p:sp>
      <p:sp>
        <p:nvSpPr>
          <p:cNvPr id="51" name="Desc_H">
            <a:extLst>
              <a:ext uri="{FF2B5EF4-FFF2-40B4-BE49-F238E27FC236}">
                <a16:creationId xmlns:a16="http://schemas.microsoft.com/office/drawing/2014/main" id="{43AF9367-6784-40E5-91AA-46D10F4A8351}"/>
              </a:ext>
            </a:extLst>
          </p:cNvPr>
          <p:cNvSpPr txBox="1"/>
          <p:nvPr/>
        </p:nvSpPr>
        <p:spPr>
          <a:xfrm>
            <a:off x="8763000" y="5207000"/>
            <a:ext cx="304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A3A3A"/>
                </a:solidFill>
                <a:latin typeface="Calibri"/>
              </a:rPr>
              <a:t>Tear-off section to mail back with payment, including card-payment fields.</a:t>
            </a:r>
          </a:p>
        </p:txBody>
      </p:sp>
    </p:spTree>
    <p:extLst>
      <p:ext uri="{BB962C8B-B14F-4D97-AF65-F5344CB8AC3E}">
        <p14:creationId xmlns:p14="http://schemas.microsoft.com/office/powerpoint/2010/main" val="2706449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02920"/>
            <a:ext cx="164592" cy="3840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9601200" cy="436723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 dirty="0">
                <a:solidFill>
                  <a:srgbClr val="0A0A0A"/>
                </a:solidFill>
                <a:latin typeface="Calibri"/>
              </a:rPr>
              <a:t>End-to-end </a:t>
            </a:r>
            <a:r>
              <a:rPr lang="en-US" sz="2400" b="1" i="0" dirty="0">
                <a:solidFill>
                  <a:srgbClr val="0A0A0A"/>
                </a:solidFill>
                <a:latin typeface="Calibri"/>
              </a:rPr>
              <a:t>example </a:t>
            </a:r>
            <a:r>
              <a:rPr sz="2400" b="1" i="0" dirty="0">
                <a:solidFill>
                  <a:srgbClr val="0A0A0A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371600" cy="27013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8102E"/>
                </a:solidFill>
                <a:latin typeface="Calibri"/>
              </a:rPr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19"/>
            <a:ext cx="1371600" cy="34714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dirty="0">
                <a:solidFill>
                  <a:srgbClr val="6E7072"/>
                </a:solidFill>
                <a:latin typeface="Calibri"/>
              </a:rPr>
              <a:t>Data</a:t>
            </a:r>
            <a:endParaRPr b="0" i="0" dirty="0">
              <a:solidFill>
                <a:srgbClr val="6E7072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11680" y="1325880"/>
            <a:ext cx="2331720" cy="96012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11680" y="1325880"/>
            <a:ext cx="73152" cy="960120"/>
          </a:xfrm>
          <a:prstGeom prst="rect">
            <a:avLst/>
          </a:prstGeom>
          <a:solidFill>
            <a:srgbClr val="545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0" y="1417320"/>
            <a:ext cx="2057400" cy="2523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Calibri"/>
              </a:rPr>
              <a:t>Patient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737360"/>
            <a:ext cx="2057400" cy="42966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A3A3A"/>
                </a:solidFill>
                <a:latin typeface="Calibri"/>
              </a:rPr>
              <a:t>Household size, income vs. FPL, insurance status, language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25880"/>
            <a:ext cx="2331720" cy="96012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325880"/>
            <a:ext cx="73152" cy="960120"/>
          </a:xfrm>
          <a:prstGeom prst="rect">
            <a:avLst/>
          </a:prstGeom>
          <a:solidFill>
            <a:srgbClr val="545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417320"/>
            <a:ext cx="2057400" cy="2523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Calibri"/>
              </a:rPr>
              <a:t>Itemized bill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737360"/>
            <a:ext cx="2057400" cy="42966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A3A3A"/>
                </a:solidFill>
                <a:latin typeface="Calibri"/>
              </a:rPr>
              <a:t>Hospital + physician line items with CPT/HCPCS codes and charges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1325880"/>
            <a:ext cx="2331720" cy="96012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49440" y="1325880"/>
            <a:ext cx="73152" cy="960120"/>
          </a:xfrm>
          <a:prstGeom prst="rect">
            <a:avLst/>
          </a:prstGeom>
          <a:solidFill>
            <a:srgbClr val="545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1417320"/>
            <a:ext cx="2057400" cy="2523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Calibri"/>
              </a:rPr>
              <a:t>EOB / 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737360"/>
            <a:ext cx="2057400" cy="42966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A3A3A"/>
                </a:solidFill>
                <a:latin typeface="Calibri"/>
              </a:rPr>
              <a:t>Insurer adjudication: write-offs, deductibles, denial codes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1325880"/>
            <a:ext cx="2331720" cy="96012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418320" y="1325880"/>
            <a:ext cx="73152" cy="960120"/>
          </a:xfrm>
          <a:prstGeom prst="rect">
            <a:avLst/>
          </a:prstGeom>
          <a:solidFill>
            <a:srgbClr val="545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0" y="1417320"/>
            <a:ext cx="2057400" cy="2523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Calibri"/>
              </a:rPr>
              <a:t>Cedars reference 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737360"/>
            <a:ext cx="2057400" cy="42966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A3A3A"/>
                </a:solidFill>
                <a:latin typeface="Calibri"/>
              </a:rPr>
              <a:t>FAP policy, AGB %, FPL table, participating physicians (NPI)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038117"/>
            <a:ext cx="1371600" cy="27013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dirty="0">
                <a:solidFill>
                  <a:srgbClr val="C8102E"/>
                </a:solidFill>
                <a:latin typeface="Calibri"/>
              </a:rPr>
              <a:t>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58157"/>
            <a:ext cx="1371600" cy="679545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solidFill>
                  <a:srgbClr val="6E7072"/>
                </a:solidFill>
                <a:latin typeface="Calibri"/>
              </a:rPr>
              <a:t>Agentic harness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3038117"/>
            <a:ext cx="9738360" cy="1463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94560" y="3129557"/>
            <a:ext cx="9144000" cy="2201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Calibri"/>
              </a:rPr>
              <a:t>Agent orchestrator</a:t>
            </a:r>
            <a:r>
              <a:rPr sz="1200" dirty="0">
                <a:solidFill>
                  <a:srgbClr val="EAE6E3"/>
                </a:solidFill>
                <a:latin typeface="Calibri"/>
              </a:rPr>
              <a:t>  ·  routes the patient’s question to the right specialist tools and reasons over their results.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48840" y="3541036"/>
            <a:ext cx="1783080" cy="77724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40280" y="3605044"/>
            <a:ext cx="1600200" cy="22159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Bill parser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3906796"/>
            <a:ext cx="1600200" cy="20351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>
                <a:solidFill>
                  <a:srgbClr val="FFFFFF"/>
                </a:solidFill>
                <a:latin typeface="Calibri"/>
              </a:rPr>
              <a:t>Extract line items from PDF bill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23360" y="3541036"/>
            <a:ext cx="1783080" cy="77724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0" y="3605044"/>
            <a:ext cx="1600200" cy="22159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Code translator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906796"/>
            <a:ext cx="1600200" cy="20351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>
                <a:solidFill>
                  <a:srgbClr val="FFFFFF"/>
                </a:solidFill>
                <a:latin typeface="Calibri"/>
              </a:rPr>
              <a:t>CPT/HCPCS to plain English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79" y="3541036"/>
            <a:ext cx="1783080" cy="77724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89319" y="3605044"/>
            <a:ext cx="1600200" cy="22159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Coverage reasoner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19" y="3906796"/>
            <a:ext cx="1600200" cy="38048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>
                <a:solidFill>
                  <a:srgbClr val="FFFFFF"/>
                </a:solidFill>
                <a:latin typeface="Calibri"/>
              </a:rPr>
              <a:t>Why the insurer paid (or didn’t)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3541036"/>
            <a:ext cx="1783080" cy="77724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63840" y="3605044"/>
            <a:ext cx="1600200" cy="22159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FAP eligibility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3906796"/>
            <a:ext cx="1600200" cy="38048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>
                <a:solidFill>
                  <a:srgbClr val="FFFFFF"/>
                </a:solidFill>
                <a:latin typeface="Calibri"/>
              </a:rPr>
              <a:t>FPL %, family size, insurance status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46919" y="3541036"/>
            <a:ext cx="1783080" cy="77724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38359" y="3605044"/>
            <a:ext cx="1600200" cy="22159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Action planner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59" y="3906796"/>
            <a:ext cx="1600200" cy="20351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>
                <a:solidFill>
                  <a:srgbClr val="FFFFFF"/>
                </a:solidFill>
                <a:latin typeface="Calibri"/>
              </a:rPr>
              <a:t>Next steps + scripts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5925151" y="4572000"/>
            <a:ext cx="457200" cy="576071"/>
          </a:xfrm>
          <a:prstGeom prst="downArrow">
            <a:avLst/>
          </a:prstGeom>
          <a:solidFill>
            <a:srgbClr val="545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5330952"/>
            <a:ext cx="1371600" cy="27013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8102E"/>
                </a:solidFill>
                <a:latin typeface="Calibri"/>
              </a:rPr>
              <a:t>DELIVERY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650992"/>
            <a:ext cx="1371600" cy="679545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>
                <a:solidFill>
                  <a:srgbClr val="6E7072"/>
                </a:solidFill>
                <a:latin typeface="Calibri"/>
              </a:rPr>
              <a:t>Patient-facing
frontend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5330952"/>
            <a:ext cx="2331720" cy="96012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011680" y="5330952"/>
            <a:ext cx="73152" cy="9601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194560" y="5422392"/>
            <a:ext cx="2057400" cy="2523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Calibri"/>
              </a:rPr>
              <a:t>Web app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5742432"/>
            <a:ext cx="2057400" cy="42966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A3A3A"/>
                </a:solidFill>
                <a:latin typeface="Calibri"/>
              </a:rPr>
              <a:t>Patient-facing UI for upload, chat, and review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0" y="5330952"/>
            <a:ext cx="2331720" cy="96012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480560" y="5330952"/>
            <a:ext cx="73152" cy="9601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663440" y="5422392"/>
            <a:ext cx="2057400" cy="2523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Calibri"/>
              </a:rPr>
              <a:t>Explanation 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5742432"/>
            <a:ext cx="2057400" cy="42966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A3A3A"/>
                </a:solidFill>
                <a:latin typeface="Calibri"/>
              </a:rPr>
              <a:t>Annotated bill in plain language with dollar breakdowns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49440" y="5330952"/>
            <a:ext cx="2331720" cy="96012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49440" y="5330952"/>
            <a:ext cx="73152" cy="9601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132320" y="5422392"/>
            <a:ext cx="2057400" cy="2523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Calibri"/>
              </a:rPr>
              <a:t>Resources panel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0" y="5742432"/>
            <a:ext cx="2057400" cy="42966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A3A3A"/>
                </a:solidFill>
                <a:latin typeface="Calibri"/>
              </a:rPr>
              <a:t>FAP path, payment plans, Medi-Cal screening, dispute options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18320" y="5330952"/>
            <a:ext cx="2331720" cy="96012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418320" y="5330952"/>
            <a:ext cx="73152" cy="9601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01200" y="5422392"/>
            <a:ext cx="2057400" cy="2523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Calibri"/>
              </a:rPr>
              <a:t>Action scripts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5742432"/>
            <a:ext cx="2057400" cy="42966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A3A3A"/>
                </a:solidFill>
                <a:latin typeface="Calibri"/>
              </a:rPr>
              <a:t>Phone, email, and form drafts patients can copy and send</a:t>
            </a:r>
          </a:p>
        </p:txBody>
      </p:sp>
      <p:sp>
        <p:nvSpPr>
          <p:cNvPr id="65" name="Down Arrow 43">
            <a:extLst>
              <a:ext uri="{FF2B5EF4-FFF2-40B4-BE49-F238E27FC236}">
                <a16:creationId xmlns:a16="http://schemas.microsoft.com/office/drawing/2014/main" id="{45CBCF19-7655-7049-84D8-B652AE1BE700}"/>
              </a:ext>
            </a:extLst>
          </p:cNvPr>
          <p:cNvSpPr/>
          <p:nvPr/>
        </p:nvSpPr>
        <p:spPr>
          <a:xfrm>
            <a:off x="5925151" y="2382927"/>
            <a:ext cx="457200" cy="576071"/>
          </a:xfrm>
          <a:prstGeom prst="downArrow">
            <a:avLst/>
          </a:prstGeom>
          <a:solidFill>
            <a:srgbClr val="545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91551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8">
            <a:extLst>
              <a:ext uri="{FF2B5EF4-FFF2-40B4-BE49-F238E27FC236}">
                <a16:creationId xmlns:a16="http://schemas.microsoft.com/office/drawing/2014/main" id="{830D364E-A087-4473-A6B1-A6812A298909}"/>
              </a:ext>
            </a:extLst>
          </p:cNvPr>
          <p:cNvSpPr/>
          <p:nvPr/>
        </p:nvSpPr>
        <p:spPr>
          <a:xfrm>
            <a:off x="9029700" y="1778000"/>
            <a:ext cx="2705100" cy="4572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57200" y="502920"/>
            <a:ext cx="164592" cy="3840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9601200" cy="436723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400" b="1" dirty="0">
                <a:solidFill>
                  <a:srgbClr val="0A0A0A"/>
                </a:solidFill>
                <a:latin typeface="Calibri"/>
              </a:rPr>
              <a:t>L</a:t>
            </a:r>
            <a:r>
              <a:rPr lang="en-US" sz="2400" b="1" i="0" dirty="0">
                <a:solidFill>
                  <a:srgbClr val="0A0A0A"/>
                </a:solidFill>
                <a:latin typeface="Calibri"/>
              </a:rPr>
              <a:t>earning</a:t>
            </a:r>
            <a:r>
              <a:rPr sz="2400" b="1" i="0" dirty="0">
                <a:solidFill>
                  <a:srgbClr val="0A0A0A"/>
                </a:solidFill>
                <a:latin typeface="Calibri"/>
              </a:rPr>
              <a:t> </a:t>
            </a:r>
            <a:r>
              <a:rPr lang="en-US" sz="2400" b="1" i="0" dirty="0">
                <a:solidFill>
                  <a:srgbClr val="0A0A0A"/>
                </a:solidFill>
                <a:latin typeface="Calibri"/>
              </a:rPr>
              <a:t>expectations</a:t>
            </a:r>
            <a:endParaRPr sz="2400" b="1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28681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500" i="1" dirty="0">
                <a:solidFill>
                  <a:srgbClr val="6E7072"/>
                </a:solidFill>
                <a:latin typeface="Calibri"/>
              </a:rPr>
              <a:t>We evaluate e</a:t>
            </a:r>
            <a:r>
              <a:rPr sz="1500" b="0" i="1" dirty="0">
                <a:solidFill>
                  <a:srgbClr val="6E7072"/>
                </a:solidFill>
                <a:latin typeface="Calibri"/>
              </a:rPr>
              <a:t>ach pillar is a</a:t>
            </a:r>
            <a:r>
              <a:rPr lang="en-US" sz="1500" b="0" i="1" dirty="0">
                <a:solidFill>
                  <a:srgbClr val="6E7072"/>
                </a:solidFill>
                <a:latin typeface="Calibri"/>
              </a:rPr>
              <a:t>n</a:t>
            </a:r>
            <a:r>
              <a:rPr lang="en-US" sz="1500" i="1" dirty="0">
                <a:solidFill>
                  <a:srgbClr val="6E7072"/>
                </a:solidFill>
                <a:latin typeface="Calibri"/>
              </a:rPr>
              <a:t> in-demand skill for AI engineers, data scientists, and analysts</a:t>
            </a:r>
            <a:r>
              <a:rPr sz="1500" b="0" i="1" dirty="0">
                <a:solidFill>
                  <a:srgbClr val="6E7072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27051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800" dist="381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2705100" cy="12801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400" y="1947672"/>
            <a:ext cx="229870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AE6E3"/>
                </a:solidFill>
                <a:latin typeface="Calibri"/>
              </a:rPr>
              <a:t>PILLAR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2240280"/>
            <a:ext cx="2298700" cy="63107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 dirty="0">
                <a:solidFill>
                  <a:srgbClr val="FFFFFF"/>
                </a:solidFill>
                <a:latin typeface="Calibri"/>
              </a:rPr>
              <a:t>Synthetic multi-modal</a:t>
            </a:r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data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3200400"/>
            <a:ext cx="2298700" cy="78854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 dirty="0">
                <a:solidFill>
                  <a:srgbClr val="2A2A2A"/>
                </a:solidFill>
                <a:latin typeface="Calibri"/>
              </a:rPr>
              <a:t>Engineer datasets to train, prompt, and evaluate against</a:t>
            </a:r>
            <a:r>
              <a:rPr lang="en-US" sz="1200" b="0" i="0" dirty="0">
                <a:solidFill>
                  <a:srgbClr val="2A2A2A"/>
                </a:solidFill>
                <a:latin typeface="Calibri"/>
              </a:rPr>
              <a:t>,</a:t>
            </a:r>
            <a:r>
              <a:rPr sz="1200" b="0" i="0" dirty="0">
                <a:solidFill>
                  <a:srgbClr val="2A2A2A"/>
                </a:solidFill>
                <a:latin typeface="Calibri"/>
              </a:rPr>
              <a:t> without touching real PHI.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00" y="4389120"/>
            <a:ext cx="2298700" cy="20351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000" b="1" i="0" dirty="0">
                <a:solidFill>
                  <a:srgbClr val="C8102E"/>
                </a:solidFill>
                <a:latin typeface="Calibri"/>
              </a:rPr>
              <a:t>OUTCOME</a:t>
            </a:r>
            <a:endParaRPr sz="1000" b="1" i="0" dirty="0">
              <a:solidFill>
                <a:srgbClr val="C8102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0400" y="4709160"/>
            <a:ext cx="2298700" cy="109023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Dataset design from a problem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Prompt-engineered generation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Multi-modal scaffolding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Provenance &amp; gold labels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4700" y="1783080"/>
            <a:ext cx="27051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800" dist="381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14700" y="1783080"/>
            <a:ext cx="2705100" cy="12801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17900" y="1947672"/>
            <a:ext cx="229870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AE6E3"/>
                </a:solidFill>
                <a:latin typeface="Calibri"/>
              </a:rPr>
              <a:t>PILLAR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7900" y="2240280"/>
            <a:ext cx="2298700" cy="326371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 dirty="0">
                <a:solidFill>
                  <a:srgbClr val="FFFFFF"/>
                </a:solidFill>
                <a:latin typeface="Calibri"/>
              </a:rPr>
              <a:t>Agentic harness</a:t>
            </a:r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7900" y="3200400"/>
            <a:ext cx="2298700" cy="10972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Calibri"/>
              </a:rPr>
              <a:t>Build the orchestration that turns a frontier LLM into a reliable, tool-using analyst over a patient's bill.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7900" y="4389120"/>
            <a:ext cx="2298700" cy="20351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000" b="1" dirty="0">
                <a:solidFill>
                  <a:srgbClr val="C8102E"/>
                </a:solidFill>
                <a:latin typeface="Calibri"/>
              </a:rPr>
              <a:t>OUTCOME</a:t>
            </a:r>
            <a:endParaRPr sz="1000" b="1" i="0" dirty="0">
              <a:solidFill>
                <a:srgbClr val="C8102E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17900" y="4709160"/>
            <a:ext cx="2298700" cy="109023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Tool-use &amp; function calling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Planner / sub-agent design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Memory &amp; retrieval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Failure-mode telemetry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783080"/>
            <a:ext cx="27051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800" dist="381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1783080"/>
            <a:ext cx="2705100" cy="12801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5400" y="1947672"/>
            <a:ext cx="229870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AE6E3"/>
                </a:solidFill>
                <a:latin typeface="Calibri"/>
              </a:rPr>
              <a:t>PILLAR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5400" y="2240280"/>
            <a:ext cx="2298700" cy="63107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 dirty="0">
                <a:solidFill>
                  <a:srgbClr val="FFFFFF"/>
                </a:solidFill>
                <a:latin typeface="Calibri"/>
              </a:rPr>
              <a:t>Full</a:t>
            </a:r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-stack </a:t>
            </a:r>
          </a:p>
          <a:p>
            <a:pPr algn="l">
              <a:lnSpc>
                <a:spcPct val="110000"/>
              </a:lnSpc>
            </a:pPr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development</a:t>
            </a:r>
            <a:endParaRPr sz="1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75400" y="3200400"/>
            <a:ext cx="2298700" cy="78854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 dirty="0">
                <a:solidFill>
                  <a:srgbClr val="2A2A2A"/>
                </a:solidFill>
                <a:latin typeface="Calibri"/>
              </a:rPr>
              <a:t>Ship a usable patient-facing app that the Cedars</a:t>
            </a:r>
            <a:r>
              <a:rPr lang="en-US" sz="1200" b="0" i="0" dirty="0">
                <a:solidFill>
                  <a:srgbClr val="2A2A2A"/>
                </a:solidFill>
                <a:latin typeface="Calibri"/>
              </a:rPr>
              <a:t>-Sinai</a:t>
            </a:r>
            <a:r>
              <a:rPr sz="1200" b="0" i="0" dirty="0">
                <a:solidFill>
                  <a:srgbClr val="2A2A2A"/>
                </a:solidFill>
                <a:latin typeface="Calibri"/>
              </a:rPr>
              <a:t> team can demo and hand to engineering for integration.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5400" y="4389120"/>
            <a:ext cx="2298700" cy="20351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000" b="1" i="0" dirty="0">
                <a:solidFill>
                  <a:srgbClr val="C8102E"/>
                </a:solidFill>
                <a:latin typeface="Calibri"/>
              </a:rPr>
              <a:t>OUTCOME</a:t>
            </a:r>
            <a:endParaRPr sz="1000" b="1" i="0" dirty="0">
              <a:solidFill>
                <a:srgbClr val="C8102E"/>
              </a:solidFill>
              <a:latin typeface="Calibri"/>
            </a:endParaRPr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400703B5-CAC5-4056-A053-C9A169FA273A}"/>
              </a:ext>
            </a:extLst>
          </p:cNvPr>
          <p:cNvSpPr/>
          <p:nvPr/>
        </p:nvSpPr>
        <p:spPr>
          <a:xfrm>
            <a:off x="9029700" y="1778000"/>
            <a:ext cx="2705100" cy="1282700"/>
          </a:xfrm>
          <a:prstGeom prst="rect">
            <a:avLst/>
          </a:prstGeom>
          <a:solidFill>
            <a:srgbClr val="C8102E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5400" y="4709160"/>
            <a:ext cx="2298700" cy="109023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Guided AI workflow UI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Streaming &amp; state management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Auth, env vars, secrets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Containerized deploy &amp; CI/CD</a:t>
            </a:r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B28F5C03-F7DD-4149-A9D7-A16FA1B3E7A8}"/>
              </a:ext>
            </a:extLst>
          </p:cNvPr>
          <p:cNvSpPr txBox="1"/>
          <p:nvPr/>
        </p:nvSpPr>
        <p:spPr>
          <a:xfrm>
            <a:off x="9232900" y="1943100"/>
            <a:ext cx="22987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AE6E3"/>
                </a:solidFill>
                <a:latin typeface="Calibri"/>
              </a:rPr>
              <a:t>PILLAR 04</a:t>
            </a:r>
          </a:p>
        </p:txBody>
      </p:sp>
      <p:sp>
        <p:nvSpPr>
          <p:cNvPr id="31" name="TextBox 29">
            <a:extLst>
              <a:ext uri="{FF2B5EF4-FFF2-40B4-BE49-F238E27FC236}">
                <a16:creationId xmlns:a16="http://schemas.microsoft.com/office/drawing/2014/main" id="{C64BB9B7-E47D-4496-80D3-294B09396586}"/>
              </a:ext>
            </a:extLst>
          </p:cNvPr>
          <p:cNvSpPr txBox="1"/>
          <p:nvPr/>
        </p:nvSpPr>
        <p:spPr>
          <a:xfrm>
            <a:off x="9232900" y="2235200"/>
            <a:ext cx="22987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 i="0" dirty="0">
                <a:solidFill>
                  <a:srgbClr val="FFFFFF"/>
                </a:solidFill>
                <a:latin typeface="Calibri"/>
              </a:rPr>
              <a:t>Business &amp; ROI framing</a:t>
            </a: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B7275208-2FE9-4E9F-AF17-F703795C96CB}"/>
              </a:ext>
            </a:extLst>
          </p:cNvPr>
          <p:cNvSpPr txBox="1"/>
          <p:nvPr/>
        </p:nvSpPr>
        <p:spPr>
          <a:xfrm>
            <a:off x="9232900" y="3200400"/>
            <a:ext cx="2298700" cy="1092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 dirty="0">
                <a:solidFill>
                  <a:srgbClr val="2A2A2A"/>
                </a:solidFill>
                <a:latin typeface="Calibri"/>
              </a:rPr>
              <a:t>Frame the work as a business case so Cedars-Sinai leadership can fund the next phase.</a:t>
            </a:r>
          </a:p>
        </p:txBody>
      </p:sp>
      <p:sp>
        <p:nvSpPr>
          <p:cNvPr id="33" name="TextBox 31">
            <a:extLst>
              <a:ext uri="{FF2B5EF4-FFF2-40B4-BE49-F238E27FC236}">
                <a16:creationId xmlns:a16="http://schemas.microsoft.com/office/drawing/2014/main" id="{9729C3FA-91C3-4CD7-AB2F-15C6008080C7}"/>
              </a:ext>
            </a:extLst>
          </p:cNvPr>
          <p:cNvSpPr txBox="1"/>
          <p:nvPr/>
        </p:nvSpPr>
        <p:spPr>
          <a:xfrm>
            <a:off x="9232900" y="4394200"/>
            <a:ext cx="22987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dirty="0">
                <a:solidFill>
                  <a:srgbClr val="C8102E"/>
                </a:solidFill>
                <a:latin typeface="Calibri"/>
              </a:rPr>
              <a:t>OUTCOME</a:t>
            </a:r>
          </a:p>
        </p:txBody>
      </p:sp>
      <p:sp>
        <p:nvSpPr>
          <p:cNvPr id="34" name="TextBox 32">
            <a:extLst>
              <a:ext uri="{FF2B5EF4-FFF2-40B4-BE49-F238E27FC236}">
                <a16:creationId xmlns:a16="http://schemas.microsoft.com/office/drawing/2014/main" id="{69D3233D-2165-4D89-9654-B42C75AB8116}"/>
              </a:ext>
            </a:extLst>
          </p:cNvPr>
          <p:cNvSpPr txBox="1"/>
          <p:nvPr/>
        </p:nvSpPr>
        <p:spPr>
          <a:xfrm>
            <a:off x="9232900" y="4711700"/>
            <a:ext cx="2298700" cy="154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 dirty="0">
                <a:solidFill>
                  <a:srgbClr val="2A2A2A"/>
                </a:solidFill>
                <a:latin typeface="Calibri"/>
              </a:rPr>
              <a:t>ROI sizing &amp; cost-benefit analysis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 dirty="0">
                <a:solidFill>
                  <a:srgbClr val="2A2A2A"/>
                </a:solidFill>
                <a:latin typeface="Calibri"/>
              </a:rPr>
              <a:t>Stakeholder narrative &amp; framing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 dirty="0">
                <a:solidFill>
                  <a:srgbClr val="2A2A2A"/>
                </a:solidFill>
                <a:latin typeface="Calibri"/>
              </a:rPr>
              <a:t>Defining success metrics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 dirty="0">
                <a:solidFill>
                  <a:srgbClr val="2A2A2A"/>
                </a:solidFill>
                <a:latin typeface="Calibri"/>
              </a:rPr>
              <a:t>Roadmap to productionization</a:t>
            </a:r>
          </a:p>
        </p:txBody>
      </p:sp>
    </p:spTree>
    <p:extLst>
      <p:ext uri="{BB962C8B-B14F-4D97-AF65-F5344CB8AC3E}">
        <p14:creationId xmlns:p14="http://schemas.microsoft.com/office/powerpoint/2010/main" val="2439849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02920"/>
            <a:ext cx="164592" cy="3840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9601200" cy="436723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400" b="1" i="0" dirty="0">
                <a:solidFill>
                  <a:srgbClr val="0A0A0A"/>
                </a:solidFill>
                <a:latin typeface="Calibri"/>
              </a:rPr>
              <a:t>Example 12-week project roadm</a:t>
            </a:r>
            <a:r>
              <a:rPr lang="en-US" sz="2400" b="1" dirty="0">
                <a:solidFill>
                  <a:srgbClr val="0A0A0A"/>
                </a:solidFill>
                <a:latin typeface="Calibri"/>
              </a:rPr>
              <a:t>ap</a:t>
            </a:r>
            <a:endParaRPr sz="2400" b="1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56816" y="1328600"/>
            <a:ext cx="14630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8102E"/>
                </a:solidFill>
                <a:latin typeface="Calibri"/>
              </a:rPr>
              <a:t>May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0147" y="1328600"/>
            <a:ext cx="14630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8102E"/>
                </a:solidFill>
                <a:latin typeface="Calibri"/>
              </a:rPr>
              <a:t>Jun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3480" y="1328600"/>
            <a:ext cx="14630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8102E"/>
                </a:solidFill>
                <a:latin typeface="Calibri"/>
              </a:rPr>
              <a:t>Jun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6812" y="1328600"/>
            <a:ext cx="14630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8102E"/>
                </a:solidFill>
                <a:latin typeface="Calibri"/>
              </a:rPr>
              <a:t>Jun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0143" y="1328600"/>
            <a:ext cx="14630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8102E"/>
                </a:solidFill>
                <a:latin typeface="Calibri"/>
              </a:rPr>
              <a:t>Jul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3476" y="1328600"/>
            <a:ext cx="14630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8102E"/>
                </a:solidFill>
                <a:latin typeface="Calibri"/>
              </a:rPr>
              <a:t>Jul 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2576" y="1676072"/>
            <a:ext cx="756666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E7072"/>
                </a:solidFill>
                <a:latin typeface="Calibri"/>
              </a:rPr>
              <a:t>W1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9242" y="1676072"/>
            <a:ext cx="756666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E7072"/>
                </a:solidFill>
                <a:latin typeface="Calibri"/>
              </a:rPr>
              <a:t>W2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5907" y="1676072"/>
            <a:ext cx="756666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E7072"/>
                </a:solidFill>
                <a:latin typeface="Calibri"/>
              </a:rPr>
              <a:t>W3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574" y="1676072"/>
            <a:ext cx="756666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E7072"/>
                </a:solidFill>
                <a:latin typeface="Calibri"/>
              </a:rPr>
              <a:t>W4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49240" y="1676072"/>
            <a:ext cx="756666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E7072"/>
                </a:solidFill>
                <a:latin typeface="Calibri"/>
              </a:rPr>
              <a:t>W5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906" y="1676072"/>
            <a:ext cx="756666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E7072"/>
                </a:solidFill>
                <a:latin typeface="Calibri"/>
              </a:rPr>
              <a:t>W6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2572" y="1676072"/>
            <a:ext cx="756666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E7072"/>
                </a:solidFill>
                <a:latin typeface="Calibri"/>
              </a:rPr>
              <a:t>W7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9238" y="1676072"/>
            <a:ext cx="756666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E7072"/>
                </a:solidFill>
                <a:latin typeface="Calibri"/>
              </a:rPr>
              <a:t>W8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5904" y="1676072"/>
            <a:ext cx="756666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E7072"/>
                </a:solidFill>
                <a:latin typeface="Calibri"/>
              </a:rPr>
              <a:t>W9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2570" y="1676072"/>
            <a:ext cx="756666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E7072"/>
                </a:solidFill>
                <a:latin typeface="Calibri"/>
              </a:rPr>
              <a:t>W10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9236" y="1676072"/>
            <a:ext cx="756666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E7072"/>
                </a:solidFill>
                <a:latin typeface="Calibri"/>
              </a:rPr>
              <a:t>W11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45902" y="1676072"/>
            <a:ext cx="756666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E7072"/>
                </a:solidFill>
                <a:latin typeface="Calibri"/>
              </a:rPr>
              <a:t>W12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016" y="2087552"/>
            <a:ext cx="214884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A0A"/>
                </a:solidFill>
                <a:latin typeface="Calibri"/>
              </a:rPr>
              <a:t>Sprint 1  ·  Discovery &amp; data design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22576" y="2114984"/>
            <a:ext cx="1467612" cy="356616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8016" y="2823277"/>
            <a:ext cx="2148840" cy="2201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dirty="0">
                <a:solidFill>
                  <a:srgbClr val="0A0A0A"/>
                </a:solidFill>
                <a:latin typeface="Calibri"/>
              </a:rPr>
              <a:t>Sprint 2  ·  </a:t>
            </a:r>
            <a:r>
              <a:rPr lang="en-US" sz="1100" b="1" i="0" dirty="0">
                <a:solidFill>
                  <a:srgbClr val="0A0A0A"/>
                </a:solidFill>
                <a:latin typeface="Calibri"/>
              </a:rPr>
              <a:t>Synthetic data </a:t>
            </a:r>
            <a:r>
              <a:rPr sz="1100" b="1" i="0" dirty="0">
                <a:solidFill>
                  <a:srgbClr val="0A0A0A"/>
                </a:solidFill>
                <a:latin typeface="Calibri"/>
              </a:rPr>
              <a:t>MVP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35907" y="2709344"/>
            <a:ext cx="1467612" cy="356616"/>
          </a:xfrm>
          <a:prstGeom prst="roundRect">
            <a:avLst/>
          </a:prstGeom>
          <a:solidFill>
            <a:srgbClr val="545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8016" y="3276272"/>
            <a:ext cx="214884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A0A"/>
                </a:solidFill>
                <a:latin typeface="Calibri"/>
              </a:rPr>
              <a:t>Sprint 3  ·  Agent harness v1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49240" y="3303704"/>
            <a:ext cx="1467612" cy="356616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8016" y="4011998"/>
            <a:ext cx="2148840" cy="2201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dirty="0">
                <a:solidFill>
                  <a:srgbClr val="0A0A0A"/>
                </a:solidFill>
                <a:latin typeface="Calibri"/>
              </a:rPr>
              <a:t>Sprint 4  · MVP + integration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62572" y="3898064"/>
            <a:ext cx="1467612" cy="356616"/>
          </a:xfrm>
          <a:prstGeom prst="roundRect">
            <a:avLst/>
          </a:prstGeom>
          <a:solidFill>
            <a:srgbClr val="545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8016" y="4464992"/>
            <a:ext cx="214884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A0A"/>
                </a:solidFill>
                <a:latin typeface="Calibri"/>
              </a:rPr>
              <a:t>Sprint 5  ·  Eval harness &amp; iteration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75904" y="4492424"/>
            <a:ext cx="1467612" cy="356616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8016" y="5059351"/>
            <a:ext cx="214884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A0A"/>
                </a:solidFill>
                <a:latin typeface="Calibri"/>
              </a:rPr>
              <a:t>Sprint 6  ·  Hardening &amp; handoff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89236" y="5086784"/>
            <a:ext cx="1467612" cy="356616"/>
          </a:xfrm>
          <a:prstGeom prst="roundRect">
            <a:avLst/>
          </a:prstGeom>
          <a:solidFill>
            <a:srgbClr val="545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8016" y="5928032"/>
            <a:ext cx="18288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8102E"/>
                </a:solidFill>
                <a:latin typeface="Calibri"/>
              </a:rPr>
              <a:t>MILESTONES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08176" y="5745152"/>
            <a:ext cx="18288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A0A0A"/>
                </a:solidFill>
                <a:latin typeface="Calibri"/>
              </a:rPr>
              <a:t>Sprint 1 starts</a:t>
            </a:r>
          </a:p>
        </p:txBody>
      </p:sp>
      <p:sp>
        <p:nvSpPr>
          <p:cNvPr id="39" name="Oval 38"/>
          <p:cNvSpPr/>
          <p:nvPr/>
        </p:nvSpPr>
        <p:spPr>
          <a:xfrm>
            <a:off x="2512848" y="6037760"/>
            <a:ext cx="219456" cy="21945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34840" y="5745152"/>
            <a:ext cx="18288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A0A0A"/>
                </a:solidFill>
                <a:latin typeface="Calibri"/>
              </a:rPr>
              <a:t>Kickoff · Jun 12</a:t>
            </a:r>
          </a:p>
        </p:txBody>
      </p:sp>
      <p:sp>
        <p:nvSpPr>
          <p:cNvPr id="41" name="Oval 40"/>
          <p:cNvSpPr/>
          <p:nvPr/>
        </p:nvSpPr>
        <p:spPr>
          <a:xfrm>
            <a:off x="5539512" y="6037760"/>
            <a:ext cx="219456" cy="21945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61504" y="5745152"/>
            <a:ext cx="18288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A0A0A"/>
                </a:solidFill>
                <a:latin typeface="Calibri"/>
              </a:rPr>
              <a:t>E2E MVP · Jul 10</a:t>
            </a:r>
          </a:p>
        </p:txBody>
      </p:sp>
      <p:sp>
        <p:nvSpPr>
          <p:cNvPr id="43" name="Oval 42"/>
          <p:cNvSpPr/>
          <p:nvPr/>
        </p:nvSpPr>
        <p:spPr>
          <a:xfrm>
            <a:off x="8566176" y="6037760"/>
            <a:ext cx="219456" cy="21945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88168" y="5764608"/>
            <a:ext cx="18288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dirty="0">
                <a:solidFill>
                  <a:srgbClr val="0A0A0A"/>
                </a:solidFill>
                <a:latin typeface="Calibri"/>
              </a:rPr>
              <a:t>Final · Aug 7</a:t>
            </a:r>
          </a:p>
        </p:txBody>
      </p:sp>
      <p:sp>
        <p:nvSpPr>
          <p:cNvPr id="45" name="Oval 44"/>
          <p:cNvSpPr/>
          <p:nvPr/>
        </p:nvSpPr>
        <p:spPr>
          <a:xfrm>
            <a:off x="11592840" y="6037760"/>
            <a:ext cx="219456" cy="21945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19956" y="6403520"/>
            <a:ext cx="274320" cy="1645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85716" y="6366944"/>
            <a:ext cx="22860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2A2A"/>
                </a:solidFill>
                <a:latin typeface="Calibri"/>
              </a:rPr>
              <a:t>Foundation sprints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71716" y="6403520"/>
            <a:ext cx="274320" cy="164592"/>
          </a:xfrm>
          <a:prstGeom prst="rect">
            <a:avLst/>
          </a:prstGeom>
          <a:solidFill>
            <a:srgbClr val="545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37476" y="6366944"/>
            <a:ext cx="22860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2A2A"/>
                </a:solidFill>
                <a:latin typeface="Calibri"/>
              </a:rPr>
              <a:t>Build sprints</a:t>
            </a:r>
          </a:p>
        </p:txBody>
      </p:sp>
    </p:spTree>
    <p:extLst>
      <p:ext uri="{BB962C8B-B14F-4D97-AF65-F5344CB8AC3E}">
        <p14:creationId xmlns:p14="http://schemas.microsoft.com/office/powerpoint/2010/main" val="217114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valCard4">
            <a:extLst>
              <a:ext uri="{FF2B5EF4-FFF2-40B4-BE49-F238E27FC236}">
                <a16:creationId xmlns:a16="http://schemas.microsoft.com/office/drawing/2014/main" id="{8C2FEE7F-7267-424E-AA96-71A6EF1A20BE}"/>
              </a:ext>
            </a:extLst>
          </p:cNvPr>
          <p:cNvSpPr/>
          <p:nvPr/>
        </p:nvSpPr>
        <p:spPr>
          <a:xfrm>
            <a:off x="9029700" y="1676400"/>
            <a:ext cx="2705100" cy="46146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50800" dist="254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EvalCard3">
            <a:extLst>
              <a:ext uri="{FF2B5EF4-FFF2-40B4-BE49-F238E27FC236}">
                <a16:creationId xmlns:a16="http://schemas.microsoft.com/office/drawing/2014/main" id="{DAFE600B-4CB9-41A4-A97E-8C16B7C98FDE}"/>
              </a:ext>
            </a:extLst>
          </p:cNvPr>
          <p:cNvSpPr/>
          <p:nvPr/>
        </p:nvSpPr>
        <p:spPr>
          <a:xfrm>
            <a:off x="6172200" y="1676400"/>
            <a:ext cx="2705100" cy="46146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50800" dist="254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EvalCard2">
            <a:extLst>
              <a:ext uri="{FF2B5EF4-FFF2-40B4-BE49-F238E27FC236}">
                <a16:creationId xmlns:a16="http://schemas.microsoft.com/office/drawing/2014/main" id="{7B7CA5AF-3A7E-43C0-90E7-8959F7629496}"/>
              </a:ext>
            </a:extLst>
          </p:cNvPr>
          <p:cNvSpPr/>
          <p:nvPr/>
        </p:nvSpPr>
        <p:spPr>
          <a:xfrm>
            <a:off x="3314700" y="1676400"/>
            <a:ext cx="2705100" cy="46146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50800" dist="254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EvalCard1">
            <a:extLst>
              <a:ext uri="{FF2B5EF4-FFF2-40B4-BE49-F238E27FC236}">
                <a16:creationId xmlns:a16="http://schemas.microsoft.com/office/drawing/2014/main" id="{05D22C3B-9BD2-4BB8-B790-FEA2567A4DDA}"/>
              </a:ext>
            </a:extLst>
          </p:cNvPr>
          <p:cNvSpPr/>
          <p:nvPr/>
        </p:nvSpPr>
        <p:spPr>
          <a:xfrm>
            <a:off x="457200" y="1676400"/>
            <a:ext cx="2705100" cy="46146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50800" dist="254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57200" y="502920"/>
            <a:ext cx="164592" cy="3840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9601200" cy="436723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 dirty="0">
                <a:solidFill>
                  <a:srgbClr val="0A0A0A"/>
                </a:solidFill>
                <a:latin typeface="Calibri"/>
              </a:rPr>
              <a:t>Evaluation </a:t>
            </a:r>
            <a:r>
              <a:rPr lang="en-US" sz="2400" b="1" i="0" dirty="0">
                <a:solidFill>
                  <a:srgbClr val="0A0A0A"/>
                </a:solidFill>
                <a:latin typeface="Calibri"/>
              </a:rPr>
              <a:t>example </a:t>
            </a:r>
            <a:r>
              <a:rPr sz="2400" b="1" i="0" dirty="0">
                <a:solidFill>
                  <a:srgbClr val="0A0A0A"/>
                </a:solidFill>
                <a:latin typeface="Calibri"/>
              </a:rPr>
              <a:t>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28681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500" i="1" dirty="0">
                <a:solidFill>
                  <a:srgbClr val="6E7072"/>
                </a:solidFill>
                <a:latin typeface="Calibri"/>
              </a:rPr>
              <a:t>Students </a:t>
            </a:r>
            <a:r>
              <a:rPr sz="1500" i="1" dirty="0">
                <a:solidFill>
                  <a:srgbClr val="6E7072"/>
                </a:solidFill>
                <a:latin typeface="Calibri"/>
              </a:rPr>
              <a:t>decide which metrics to instrument and how to measure them.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574805-CF93-467E-B094-E0F7237B12F9}"/>
              </a:ext>
            </a:extLst>
          </p:cNvPr>
          <p:cNvSpPr txBox="1"/>
          <p:nvPr/>
        </p:nvSpPr>
        <p:spPr>
          <a:xfrm>
            <a:off x="635000" y="187960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sz="1100" b="1" dirty="0">
                <a:solidFill>
                  <a:srgbClr val="C8102E"/>
                </a:solidFill>
                <a:latin typeface="Calibri"/>
              </a:rPr>
              <a:t>01 / SYNTHETIC 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E09C14-4FB8-4E94-9E52-EFB057D21D2E}"/>
              </a:ext>
            </a:extLst>
          </p:cNvPr>
          <p:cNvSpPr/>
          <p:nvPr/>
        </p:nvSpPr>
        <p:spPr>
          <a:xfrm>
            <a:off x="635000" y="2184400"/>
            <a:ext cx="2349500" cy="12700"/>
          </a:xfrm>
          <a:prstGeom prst="rect">
            <a:avLst/>
          </a:prstGeom>
          <a:solidFill>
            <a:srgbClr val="E5E1D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E2F038-952A-4D88-AEEF-48D03B382BC7}"/>
              </a:ext>
            </a:extLst>
          </p:cNvPr>
          <p:cNvSpPr txBox="1"/>
          <p:nvPr/>
        </p:nvSpPr>
        <p:spPr>
          <a:xfrm>
            <a:off x="635000" y="2286000"/>
            <a:ext cx="23495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dirty="0">
                <a:solidFill>
                  <a:srgbClr val="0A0A0A"/>
                </a:solidFill>
                <a:latin typeface="Calibri"/>
              </a:rPr>
              <a:t>Dataset quality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B6F52E-0F3E-4E33-876F-F24425722D57}"/>
              </a:ext>
            </a:extLst>
          </p:cNvPr>
          <p:cNvSpPr txBox="1"/>
          <p:nvPr/>
        </p:nvSpPr>
        <p:spPr>
          <a:xfrm>
            <a:off x="635000" y="267502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dirty="0">
                <a:solidFill>
                  <a:srgbClr val="0A0A0A"/>
                </a:solidFill>
                <a:latin typeface="Calibri"/>
              </a:rPr>
              <a:t>Fidelity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BEC644-71B7-4DDB-BCE3-8640C0DEF56B}"/>
              </a:ext>
            </a:extLst>
          </p:cNvPr>
          <p:cNvSpPr txBox="1"/>
          <p:nvPr/>
        </p:nvSpPr>
        <p:spPr>
          <a:xfrm>
            <a:off x="635000" y="2903620"/>
            <a:ext cx="23495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A3A3A"/>
                </a:solidFill>
                <a:latin typeface="Calibri"/>
              </a:rPr>
              <a:t>How closely the data resembles what students would see in production.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548703-A329-4D1B-A78B-120D2FFDFF8D}"/>
              </a:ext>
            </a:extLst>
          </p:cNvPr>
          <p:cNvSpPr txBox="1"/>
          <p:nvPr/>
        </p:nvSpPr>
        <p:spPr>
          <a:xfrm>
            <a:off x="635000" y="356402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dirty="0">
                <a:solidFill>
                  <a:srgbClr val="0A0A0A"/>
                </a:solidFill>
                <a:latin typeface="Calibri"/>
              </a:rPr>
              <a:t>Diversity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955E0D-2394-4B4A-9249-057AF71E1E15}"/>
              </a:ext>
            </a:extLst>
          </p:cNvPr>
          <p:cNvSpPr txBox="1"/>
          <p:nvPr/>
        </p:nvSpPr>
        <p:spPr>
          <a:xfrm>
            <a:off x="635000" y="3792620"/>
            <a:ext cx="23495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A3A3A"/>
                </a:solidFill>
                <a:latin typeface="Calibri"/>
              </a:rPr>
              <a:t>How well the dataset spans the patient and payer cases that matter.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22ED8F-FA40-4E15-B4CF-4CF259AC4D08}"/>
              </a:ext>
            </a:extLst>
          </p:cNvPr>
          <p:cNvSpPr txBox="1"/>
          <p:nvPr/>
        </p:nvSpPr>
        <p:spPr>
          <a:xfrm>
            <a:off x="635000" y="445302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dirty="0">
                <a:solidFill>
                  <a:srgbClr val="0A0A0A"/>
                </a:solidFill>
                <a:latin typeface="Calibri"/>
              </a:rPr>
              <a:t>Privacy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0D974F-D26A-484D-B1BB-CAF0B73273AD}"/>
              </a:ext>
            </a:extLst>
          </p:cNvPr>
          <p:cNvSpPr txBox="1"/>
          <p:nvPr/>
        </p:nvSpPr>
        <p:spPr>
          <a:xfrm>
            <a:off x="635000" y="4681620"/>
            <a:ext cx="23495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A3A3A"/>
                </a:solidFill>
                <a:latin typeface="Calibri"/>
              </a:rPr>
              <a:t>How students can show no real PHI is recoverable from the set.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31C319-D67D-432B-8742-8B836EC0CA40}"/>
              </a:ext>
            </a:extLst>
          </p:cNvPr>
          <p:cNvSpPr txBox="1"/>
          <p:nvPr/>
        </p:nvSpPr>
        <p:spPr>
          <a:xfrm>
            <a:off x="635000" y="534202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dirty="0">
                <a:solidFill>
                  <a:srgbClr val="0A0A0A"/>
                </a:solidFill>
                <a:latin typeface="Calibri"/>
              </a:rPr>
              <a:t>Utility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81C3F4-AEA1-48E4-8E4B-67E9FAE55C29}"/>
              </a:ext>
            </a:extLst>
          </p:cNvPr>
          <p:cNvSpPr txBox="1"/>
          <p:nvPr/>
        </p:nvSpPr>
        <p:spPr>
          <a:xfrm>
            <a:off x="635000" y="5570620"/>
            <a:ext cx="23495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A3A3A"/>
                </a:solidFill>
                <a:latin typeface="Calibri"/>
              </a:rPr>
              <a:t>Whether models built or prompted on it actually work downstream.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2CB2C1-5E34-4D54-8357-CAEE48B0E347}"/>
              </a:ext>
            </a:extLst>
          </p:cNvPr>
          <p:cNvSpPr txBox="1"/>
          <p:nvPr/>
        </p:nvSpPr>
        <p:spPr>
          <a:xfrm>
            <a:off x="3492500" y="187960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sz="1100" b="1" dirty="0">
                <a:solidFill>
                  <a:srgbClr val="C8102E"/>
                </a:solidFill>
                <a:latin typeface="Calibri"/>
              </a:rPr>
              <a:t>02 / AGENTIC SYSTEM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B042F32-48F2-4213-93CB-F42EF4217ACD}"/>
              </a:ext>
            </a:extLst>
          </p:cNvPr>
          <p:cNvSpPr/>
          <p:nvPr/>
        </p:nvSpPr>
        <p:spPr>
          <a:xfrm>
            <a:off x="3492500" y="2184400"/>
            <a:ext cx="2349500" cy="12700"/>
          </a:xfrm>
          <a:prstGeom prst="rect">
            <a:avLst/>
          </a:prstGeom>
          <a:solidFill>
            <a:srgbClr val="E5E1D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DFED2E-F1A0-47AE-A588-EB5F65B32CBB}"/>
              </a:ext>
            </a:extLst>
          </p:cNvPr>
          <p:cNvSpPr txBox="1"/>
          <p:nvPr/>
        </p:nvSpPr>
        <p:spPr>
          <a:xfrm>
            <a:off x="3492500" y="2286000"/>
            <a:ext cx="23495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dirty="0">
                <a:solidFill>
                  <a:srgbClr val="0A0A0A"/>
                </a:solidFill>
                <a:latin typeface="Calibri"/>
              </a:rPr>
              <a:t>Pipeline behavior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D21B04-7AD5-42D4-8A78-0A717BE807C2}"/>
              </a:ext>
            </a:extLst>
          </p:cNvPr>
          <p:cNvSpPr txBox="1"/>
          <p:nvPr/>
        </p:nvSpPr>
        <p:spPr>
          <a:xfrm>
            <a:off x="3492500" y="267502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dirty="0">
                <a:solidFill>
                  <a:srgbClr val="0A0A0A"/>
                </a:solidFill>
                <a:latin typeface="Calibri"/>
              </a:rPr>
              <a:t>Task success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A31095-9F36-4D29-9AEB-7871404EC396}"/>
              </a:ext>
            </a:extLst>
          </p:cNvPr>
          <p:cNvSpPr txBox="1"/>
          <p:nvPr/>
        </p:nvSpPr>
        <p:spPr>
          <a:xfrm>
            <a:off x="3492500" y="2903620"/>
            <a:ext cx="23495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A3A3A"/>
                </a:solidFill>
                <a:latin typeface="Calibri"/>
              </a:rPr>
              <a:t>How often the agent gets the whole task right on a held-out set.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D7C1B3-4E97-42E1-B70B-6AD9B2F7DD06}"/>
              </a:ext>
            </a:extLst>
          </p:cNvPr>
          <p:cNvSpPr txBox="1"/>
          <p:nvPr/>
        </p:nvSpPr>
        <p:spPr>
          <a:xfrm>
            <a:off x="3492500" y="356402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dirty="0">
                <a:solidFill>
                  <a:srgbClr val="0A0A0A"/>
                </a:solidFill>
                <a:latin typeface="Calibri"/>
              </a:rPr>
              <a:t>Tool correctness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41D538-D2A2-48D8-8ADE-11A372B87DAB}"/>
              </a:ext>
            </a:extLst>
          </p:cNvPr>
          <p:cNvSpPr txBox="1"/>
          <p:nvPr/>
        </p:nvSpPr>
        <p:spPr>
          <a:xfrm>
            <a:off x="3492500" y="3792620"/>
            <a:ext cx="23495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A3A3A"/>
                </a:solidFill>
                <a:latin typeface="Calibri"/>
              </a:rPr>
              <a:t>Whether tool calls are well-chosen, well-formed, and well-sequenced.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2D03BB7-8BD7-414F-A851-B19A1FB7F2AE}"/>
              </a:ext>
            </a:extLst>
          </p:cNvPr>
          <p:cNvSpPr txBox="1"/>
          <p:nvPr/>
        </p:nvSpPr>
        <p:spPr>
          <a:xfrm>
            <a:off x="3492500" y="445302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dirty="0">
                <a:solidFill>
                  <a:srgbClr val="0A0A0A"/>
                </a:solidFill>
                <a:latin typeface="Calibri"/>
              </a:rPr>
              <a:t>Groundedness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830661-4EBB-4DF3-8CAE-9F8FE395DCE0}"/>
              </a:ext>
            </a:extLst>
          </p:cNvPr>
          <p:cNvSpPr txBox="1"/>
          <p:nvPr/>
        </p:nvSpPr>
        <p:spPr>
          <a:xfrm>
            <a:off x="3492500" y="4681620"/>
            <a:ext cx="23495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A3A3A"/>
                </a:solidFill>
                <a:latin typeface="Calibri"/>
              </a:rPr>
              <a:t>How tightly each claim is anchored to a real source document.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23C6AA-4B63-42BE-BBBA-E1789F21226B}"/>
              </a:ext>
            </a:extLst>
          </p:cNvPr>
          <p:cNvSpPr txBox="1"/>
          <p:nvPr/>
        </p:nvSpPr>
        <p:spPr>
          <a:xfrm>
            <a:off x="3492500" y="534202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dirty="0">
                <a:solidFill>
                  <a:srgbClr val="0A0A0A"/>
                </a:solidFill>
                <a:latin typeface="Calibri"/>
              </a:rPr>
              <a:t>Recovery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D756B2-3B7A-4965-ADA6-25A0BB80F41A}"/>
              </a:ext>
            </a:extLst>
          </p:cNvPr>
          <p:cNvSpPr txBox="1"/>
          <p:nvPr/>
        </p:nvSpPr>
        <p:spPr>
          <a:xfrm>
            <a:off x="3492500" y="5570620"/>
            <a:ext cx="23495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A3A3A"/>
                </a:solidFill>
                <a:latin typeface="Calibri"/>
              </a:rPr>
              <a:t>What happens when a step fails, and how gracefully it recovers.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7AE3A3-A151-4E59-84A2-B63CE81A1F53}"/>
              </a:ext>
            </a:extLst>
          </p:cNvPr>
          <p:cNvSpPr txBox="1"/>
          <p:nvPr/>
        </p:nvSpPr>
        <p:spPr>
          <a:xfrm>
            <a:off x="6350000" y="187960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sz="1100" b="1" dirty="0">
                <a:solidFill>
                  <a:srgbClr val="C8102E"/>
                </a:solidFill>
                <a:latin typeface="Calibri"/>
              </a:rPr>
              <a:t>03 / PERFORMANCE &amp; COST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7B7202F-E88A-4BE4-8A59-D22434B2BEAD}"/>
              </a:ext>
            </a:extLst>
          </p:cNvPr>
          <p:cNvSpPr/>
          <p:nvPr/>
        </p:nvSpPr>
        <p:spPr>
          <a:xfrm>
            <a:off x="6350000" y="2184400"/>
            <a:ext cx="2349500" cy="12700"/>
          </a:xfrm>
          <a:prstGeom prst="rect">
            <a:avLst/>
          </a:prstGeom>
          <a:solidFill>
            <a:srgbClr val="E5E1D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CF7110-C74E-4495-A35E-F9CC3C525283}"/>
              </a:ext>
            </a:extLst>
          </p:cNvPr>
          <p:cNvSpPr txBox="1"/>
          <p:nvPr/>
        </p:nvSpPr>
        <p:spPr>
          <a:xfrm>
            <a:off x="6350000" y="2286000"/>
            <a:ext cx="23495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dirty="0">
                <a:solidFill>
                  <a:srgbClr val="0A0A0A"/>
                </a:solidFill>
                <a:latin typeface="Calibri"/>
              </a:rPr>
              <a:t>Run economics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CCE9B5-CEBD-4657-B391-5F814D8A9214}"/>
              </a:ext>
            </a:extLst>
          </p:cNvPr>
          <p:cNvSpPr txBox="1"/>
          <p:nvPr/>
        </p:nvSpPr>
        <p:spPr>
          <a:xfrm>
            <a:off x="6350000" y="267502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dirty="0">
                <a:solidFill>
                  <a:srgbClr val="0A0A0A"/>
                </a:solidFill>
                <a:latin typeface="Calibri"/>
              </a:rPr>
              <a:t>Latency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A08BF0-A4F8-42EC-9076-90E35BE6B8ED}"/>
              </a:ext>
            </a:extLst>
          </p:cNvPr>
          <p:cNvSpPr txBox="1"/>
          <p:nvPr/>
        </p:nvSpPr>
        <p:spPr>
          <a:xfrm>
            <a:off x="6350000" y="2903620"/>
            <a:ext cx="23495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A3A3A"/>
                </a:solidFill>
                <a:latin typeface="Calibri"/>
              </a:rPr>
              <a:t>How fast the system feels at the points users wait.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E5C1B61-41AC-4BCD-B513-AF7B5A5FE6B2}"/>
              </a:ext>
            </a:extLst>
          </p:cNvPr>
          <p:cNvSpPr txBox="1"/>
          <p:nvPr/>
        </p:nvSpPr>
        <p:spPr>
          <a:xfrm>
            <a:off x="6350000" y="356402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dirty="0">
                <a:solidFill>
                  <a:srgbClr val="0A0A0A"/>
                </a:solidFill>
                <a:latin typeface="Calibri"/>
              </a:rPr>
              <a:t>Token spend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141252-BAC4-499F-8EA3-BB001EE588DB}"/>
              </a:ext>
            </a:extLst>
          </p:cNvPr>
          <p:cNvSpPr txBox="1"/>
          <p:nvPr/>
        </p:nvSpPr>
        <p:spPr>
          <a:xfrm>
            <a:off x="6350000" y="3792620"/>
            <a:ext cx="23495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A3A3A"/>
                </a:solidFill>
                <a:latin typeface="Calibri"/>
              </a:rPr>
              <a:t>What a typical interaction costs to run, and where the spend goes.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566404-BE47-4547-9AEC-CA13D3C58F57}"/>
              </a:ext>
            </a:extLst>
          </p:cNvPr>
          <p:cNvSpPr txBox="1"/>
          <p:nvPr/>
        </p:nvSpPr>
        <p:spPr>
          <a:xfrm>
            <a:off x="6350000" y="445302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dirty="0">
                <a:solidFill>
                  <a:srgbClr val="0A0A0A"/>
                </a:solidFill>
                <a:latin typeface="Calibri"/>
              </a:rPr>
              <a:t>Throughput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F2D82C-EEFB-42DE-A32B-F25EED3AA762}"/>
              </a:ext>
            </a:extLst>
          </p:cNvPr>
          <p:cNvSpPr txBox="1"/>
          <p:nvPr/>
        </p:nvSpPr>
        <p:spPr>
          <a:xfrm>
            <a:off x="6350000" y="4681620"/>
            <a:ext cx="23495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A3A3A"/>
                </a:solidFill>
                <a:latin typeface="Calibri"/>
              </a:rPr>
              <a:t>How many concurrent users the stack can serve before it strains.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AF3DCF-70D5-4643-8406-F0D509EE0E98}"/>
              </a:ext>
            </a:extLst>
          </p:cNvPr>
          <p:cNvSpPr txBox="1"/>
          <p:nvPr/>
        </p:nvSpPr>
        <p:spPr>
          <a:xfrm>
            <a:off x="6350000" y="534202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dirty="0">
                <a:solidFill>
                  <a:srgbClr val="0A0A0A"/>
                </a:solidFill>
                <a:latin typeface="Calibri"/>
              </a:rPr>
              <a:t>Reliability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685D505-D659-4880-B933-72779224AD48}"/>
              </a:ext>
            </a:extLst>
          </p:cNvPr>
          <p:cNvSpPr txBox="1"/>
          <p:nvPr/>
        </p:nvSpPr>
        <p:spPr>
          <a:xfrm>
            <a:off x="6350000" y="5570620"/>
            <a:ext cx="23495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A3A3A"/>
                </a:solidFill>
                <a:latin typeface="Calibri"/>
              </a:rPr>
              <a:t>How often a session completes cleanly without errors or timeouts.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E4F770C-B71B-40F3-BB1E-77259AFF8737}"/>
              </a:ext>
            </a:extLst>
          </p:cNvPr>
          <p:cNvSpPr txBox="1"/>
          <p:nvPr/>
        </p:nvSpPr>
        <p:spPr>
          <a:xfrm>
            <a:off x="9207500" y="187960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sz="1100" b="1" dirty="0">
                <a:solidFill>
                  <a:srgbClr val="C8102E"/>
                </a:solidFill>
                <a:latin typeface="Calibri"/>
              </a:rPr>
              <a:t>04 / PRODUCT &amp; UX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159B46D-1C20-4447-95A7-36720FE612C3}"/>
              </a:ext>
            </a:extLst>
          </p:cNvPr>
          <p:cNvSpPr/>
          <p:nvPr/>
        </p:nvSpPr>
        <p:spPr>
          <a:xfrm>
            <a:off x="9207500" y="2184400"/>
            <a:ext cx="2349500" cy="12700"/>
          </a:xfrm>
          <a:prstGeom prst="rect">
            <a:avLst/>
          </a:prstGeom>
          <a:solidFill>
            <a:srgbClr val="E5E1D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2E9255-D945-44A8-9CE8-86EAC4956022}"/>
              </a:ext>
            </a:extLst>
          </p:cNvPr>
          <p:cNvSpPr txBox="1"/>
          <p:nvPr/>
        </p:nvSpPr>
        <p:spPr>
          <a:xfrm>
            <a:off x="9207500" y="2286000"/>
            <a:ext cx="23495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dirty="0">
                <a:solidFill>
                  <a:srgbClr val="0A0A0A"/>
                </a:solidFill>
                <a:latin typeface="Calibri"/>
              </a:rPr>
              <a:t>Patient experience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E3A3D9C-0B89-48CD-94F3-E2FBA3E1C22D}"/>
              </a:ext>
            </a:extLst>
          </p:cNvPr>
          <p:cNvSpPr txBox="1"/>
          <p:nvPr/>
        </p:nvSpPr>
        <p:spPr>
          <a:xfrm>
            <a:off x="9207500" y="267502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dirty="0">
                <a:solidFill>
                  <a:srgbClr val="0A0A0A"/>
                </a:solidFill>
                <a:latin typeface="Calibri"/>
              </a:rPr>
              <a:t>Time-to-answer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0B5D49-E770-4AE9-9605-42D6EEF422FB}"/>
              </a:ext>
            </a:extLst>
          </p:cNvPr>
          <p:cNvSpPr txBox="1"/>
          <p:nvPr/>
        </p:nvSpPr>
        <p:spPr>
          <a:xfrm>
            <a:off x="9207500" y="2903620"/>
            <a:ext cx="23495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A3A3A"/>
                </a:solidFill>
                <a:latin typeface="Calibri"/>
              </a:rPr>
              <a:t>How quickly a patient gets to something useful on screen.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0AA0C35-8565-4EEE-9E5D-DD65CFCFE12A}"/>
              </a:ext>
            </a:extLst>
          </p:cNvPr>
          <p:cNvSpPr txBox="1"/>
          <p:nvPr/>
        </p:nvSpPr>
        <p:spPr>
          <a:xfrm>
            <a:off x="9207500" y="356402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dirty="0">
                <a:solidFill>
                  <a:srgbClr val="0A0A0A"/>
                </a:solidFill>
                <a:latin typeface="Calibri"/>
              </a:rPr>
              <a:t>Comprehension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EFF2C43-F9E6-4C46-8A27-E3C6A49827CF}"/>
              </a:ext>
            </a:extLst>
          </p:cNvPr>
          <p:cNvSpPr txBox="1"/>
          <p:nvPr/>
        </p:nvSpPr>
        <p:spPr>
          <a:xfrm>
            <a:off x="9207500" y="3792620"/>
            <a:ext cx="23495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A3A3A"/>
                </a:solidFill>
                <a:latin typeface="Calibri"/>
              </a:rPr>
              <a:t>Whether a non-expert can restate the bill in their own words.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37A5D4D-994B-4140-A53D-33D674ABD1CB}"/>
              </a:ext>
            </a:extLst>
          </p:cNvPr>
          <p:cNvSpPr txBox="1"/>
          <p:nvPr/>
        </p:nvSpPr>
        <p:spPr>
          <a:xfrm>
            <a:off x="9207500" y="445302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dirty="0">
                <a:solidFill>
                  <a:srgbClr val="0A0A0A"/>
                </a:solidFill>
                <a:latin typeface="Calibri"/>
              </a:rPr>
              <a:t>Next-step clarity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9663278-EA72-48E0-82C8-E744D64721C6}"/>
              </a:ext>
            </a:extLst>
          </p:cNvPr>
          <p:cNvSpPr txBox="1"/>
          <p:nvPr/>
        </p:nvSpPr>
        <p:spPr>
          <a:xfrm>
            <a:off x="9207500" y="4681620"/>
            <a:ext cx="23495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A3A3A"/>
                </a:solidFill>
                <a:latin typeface="Calibri"/>
              </a:rPr>
              <a:t>Whether the patient leaves knowing what to do next.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13334FE-DC20-478F-B05D-46A69608E4C5}"/>
              </a:ext>
            </a:extLst>
          </p:cNvPr>
          <p:cNvSpPr txBox="1"/>
          <p:nvPr/>
        </p:nvSpPr>
        <p:spPr>
          <a:xfrm>
            <a:off x="9207500" y="534202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dirty="0">
                <a:solidFill>
                  <a:srgbClr val="0A0A0A"/>
                </a:solidFill>
                <a:latin typeface="Calibri"/>
              </a:rPr>
              <a:t>Trust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7223502-3498-4815-8D4D-B7784FE0297E}"/>
              </a:ext>
            </a:extLst>
          </p:cNvPr>
          <p:cNvSpPr txBox="1"/>
          <p:nvPr/>
        </p:nvSpPr>
        <p:spPr>
          <a:xfrm>
            <a:off x="9207500" y="5570620"/>
            <a:ext cx="23495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A3A3A"/>
                </a:solidFill>
                <a:latin typeface="Calibri"/>
              </a:rPr>
              <a:t>How confident the patient feels in acting on what they saw.</a:t>
            </a:r>
          </a:p>
        </p:txBody>
      </p:sp>
    </p:spTree>
    <p:extLst>
      <p:ext uri="{BB962C8B-B14F-4D97-AF65-F5344CB8AC3E}">
        <p14:creationId xmlns:p14="http://schemas.microsoft.com/office/powerpoint/2010/main" val="2870288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02920"/>
            <a:ext cx="164592" cy="3840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9601200" cy="436723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 dirty="0">
                <a:solidFill>
                  <a:srgbClr val="0A0A0A"/>
                </a:solidFill>
                <a:latin typeface="Calibri"/>
              </a:rPr>
              <a:t>Risk, ethics &amp; </a:t>
            </a:r>
            <a:r>
              <a:rPr lang="en-US" sz="2400" b="1" i="0" dirty="0">
                <a:solidFill>
                  <a:srgbClr val="0A0A0A"/>
                </a:solidFill>
                <a:latin typeface="Calibri"/>
              </a:rPr>
              <a:t>example </a:t>
            </a:r>
            <a:r>
              <a:rPr sz="2400" b="1" i="0" dirty="0">
                <a:solidFill>
                  <a:srgbClr val="0A0A0A"/>
                </a:solidFill>
                <a:latin typeface="Calibri"/>
              </a:rPr>
              <a:t>responsible-AI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9943" y="1556886"/>
            <a:ext cx="55321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9943" y="1556886"/>
            <a:ext cx="164592" cy="2331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5703" y="1785486"/>
            <a:ext cx="548640" cy="54864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5703" y="1785486"/>
            <a:ext cx="548640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1503" y="1908098"/>
            <a:ext cx="4343400" cy="3034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0A0A0A"/>
                </a:solidFill>
                <a:latin typeface="Calibri"/>
              </a:rPr>
              <a:t>Synthetic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" y="2471286"/>
            <a:ext cx="4892040" cy="109023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Students work exclusively with synthetic patients, bills, and EOBs.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No PHI is ever exported, accessed, or required for any pillar.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Datasets are generated in-program from problem statements.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Cedars team validates realism without compromising privacy.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2375" y="1556886"/>
            <a:ext cx="55321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02375" y="1556886"/>
            <a:ext cx="164592" cy="2331720"/>
          </a:xfrm>
          <a:prstGeom prst="rect">
            <a:avLst/>
          </a:prstGeom>
          <a:solidFill>
            <a:srgbClr val="545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68135" y="1785486"/>
            <a:ext cx="548640" cy="548640"/>
          </a:xfrm>
          <a:prstGeom prst="ellipse">
            <a:avLst/>
          </a:prstGeom>
          <a:solidFill>
            <a:srgbClr val="545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8135" y="1785486"/>
            <a:ext cx="548640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3935" y="1908098"/>
            <a:ext cx="4343400" cy="3034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0A0A"/>
                </a:solidFill>
                <a:latin typeface="Calibri"/>
              </a:rPr>
              <a:t>Honesty about uncertainty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8135" y="2471286"/>
            <a:ext cx="4892040" cy="109023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Cite-or-refuse prompting: every claim ties to a source line.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Deterministic facts (codes, math, totals) handled by tools, not the LLM.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Adversarial probes in the eval suite stress-test hallucination.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Confidence is surfaced in the UI; "unknown" is a valid answer.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943" y="4071486"/>
            <a:ext cx="55321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9943" y="4071486"/>
            <a:ext cx="164592" cy="2331720"/>
          </a:xfrm>
          <a:prstGeom prst="rect">
            <a:avLst/>
          </a:prstGeom>
          <a:solidFill>
            <a:srgbClr val="8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5703" y="4300086"/>
            <a:ext cx="548640" cy="548640"/>
          </a:xfrm>
          <a:prstGeom prst="ellipse">
            <a:avLst/>
          </a:prstGeom>
          <a:solidFill>
            <a:srgbClr val="8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5703" y="4300086"/>
            <a:ext cx="548640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1503" y="4422698"/>
            <a:ext cx="4343400" cy="3034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0A0A0A"/>
                </a:solidFill>
                <a:latin typeface="Calibri"/>
              </a:rPr>
              <a:t>Scope &amp; 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" y="4985886"/>
            <a:ext cx="4892040" cy="109023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Persistent banner: this is an AI assistant, not medical or legal advice.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No promises about coverage, billing outcomes, or clinical guidance.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Plain-language target capped at a 6th-grade reading level.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English is one option in the UI, not the assumed default.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2375" y="4071486"/>
            <a:ext cx="55321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02375" y="4071486"/>
            <a:ext cx="164592" cy="23317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68135" y="4300086"/>
            <a:ext cx="548640" cy="54864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8135" y="4300086"/>
            <a:ext cx="548640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3935" y="4422698"/>
            <a:ext cx="4343400" cy="3034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0A0A"/>
                </a:solidFill>
                <a:latin typeface="Calibri"/>
              </a:rPr>
              <a:t>Bias &amp; fairness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8135" y="4985886"/>
            <a:ext cx="4892040" cy="109023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Synthetic personas span a deliberate range of demographics and conditions.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Eval suite checks answer quality across persona segments, not just averages.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Plain-language and reading-level targets reduce health-literacy bias.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2A2A2A"/>
                </a:solidFill>
                <a:latin typeface="Calibri"/>
              </a:rPr>
              <a:t>Students document who the system serves well and where it falls short.</a:t>
            </a:r>
          </a:p>
        </p:txBody>
      </p:sp>
    </p:spTree>
    <p:extLst>
      <p:ext uri="{BB962C8B-B14F-4D97-AF65-F5344CB8AC3E}">
        <p14:creationId xmlns:p14="http://schemas.microsoft.com/office/powerpoint/2010/main" val="324579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02920"/>
            <a:ext cx="164592" cy="3840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9601200" cy="436723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 dirty="0">
                <a:solidFill>
                  <a:srgbClr val="0A0A0A"/>
                </a:solidFill>
                <a:latin typeface="Calibri"/>
              </a:rPr>
              <a:t>Final deliverables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73152"/>
            <a:ext cx="11274552" cy="4572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73152"/>
            <a:ext cx="2926079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AE6E3"/>
                </a:solidFill>
                <a:latin typeface="Calibri"/>
              </a:rPr>
              <a:t>DELIVERABLE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673152"/>
            <a:ext cx="100584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AE6E3"/>
                </a:solidFill>
                <a:latin typeface="Calibri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73152"/>
            <a:ext cx="530352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AE6E3"/>
                </a:solidFill>
                <a:latin typeface="Calibri"/>
              </a:rP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1673152"/>
            <a:ext cx="128016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AE6E3"/>
                </a:solidFill>
                <a:latin typeface="Calibri"/>
              </a:rPr>
              <a:t>AUDIENCE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30352"/>
            <a:ext cx="11274552" cy="43891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30352"/>
            <a:ext cx="2926079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A0A"/>
                </a:solidFill>
                <a:latin typeface="Calibri"/>
              </a:rPr>
              <a:t>Kickoff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130352"/>
            <a:ext cx="100584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Jun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130352"/>
            <a:ext cx="530352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Problem statement, scope, plan, v1 demo.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24159" y="2212648"/>
            <a:ext cx="1097280" cy="274320"/>
          </a:xfrm>
          <a:prstGeom prst="roundRect">
            <a:avLst/>
          </a:prstGeom>
          <a:solidFill>
            <a:srgbClr val="8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24159" y="2212648"/>
            <a:ext cx="10972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Both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69264"/>
            <a:ext cx="11274552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569264"/>
            <a:ext cx="2926079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A0A"/>
                </a:solidFill>
                <a:latin typeface="Calibri"/>
              </a:rPr>
              <a:t>Final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569264"/>
            <a:ext cx="100584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Aug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569264"/>
            <a:ext cx="530352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Methodology, results, limitations, extensions.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4159" y="2651560"/>
            <a:ext cx="1097280" cy="274320"/>
          </a:xfrm>
          <a:prstGeom prst="roundRect">
            <a:avLst/>
          </a:prstGeom>
          <a:solidFill>
            <a:srgbClr val="8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24159" y="2651560"/>
            <a:ext cx="10972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Both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008176"/>
            <a:ext cx="11274552" cy="43891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008176"/>
            <a:ext cx="2926079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A0A"/>
                </a:solidFill>
                <a:latin typeface="Calibri"/>
              </a:rPr>
              <a:t>Final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008176"/>
            <a:ext cx="100584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Aug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008176"/>
            <a:ext cx="530352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Written companion to the final presentation; Cedars-ready.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24159" y="3090472"/>
            <a:ext cx="1097280" cy="274320"/>
          </a:xfrm>
          <a:prstGeom prst="roundRect">
            <a:avLst/>
          </a:prstGeom>
          <a:solidFill>
            <a:srgbClr val="8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24159" y="3125873"/>
            <a:ext cx="1097280" cy="20351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Both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7200" y="3447088"/>
            <a:ext cx="11274552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3447088"/>
            <a:ext cx="2926079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A0A"/>
                </a:solidFill>
                <a:latin typeface="Calibri"/>
              </a:rPr>
              <a:t>Codebase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3447088"/>
            <a:ext cx="100584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Aug 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447088"/>
            <a:ext cx="530352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Monorepo: data generators, agent harness, frontend, eval suite.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24159" y="3529384"/>
            <a:ext cx="1097280" cy="27432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424159" y="3529384"/>
            <a:ext cx="10972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Cedars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886000"/>
            <a:ext cx="11274552" cy="43891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3886000"/>
            <a:ext cx="2926079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A0A"/>
                </a:solidFill>
                <a:latin typeface="Calibri"/>
              </a:rPr>
              <a:t>Synthetic dataset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3886000"/>
            <a:ext cx="100584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Aug 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3886000"/>
            <a:ext cx="530352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Versioned bundles (patients, bills, EOBs, resources, gold labels).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24159" y="3968296"/>
            <a:ext cx="1097280" cy="27432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424159" y="3968296"/>
            <a:ext cx="10972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Cedars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324912"/>
            <a:ext cx="11274552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" y="4324912"/>
            <a:ext cx="2926079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A0A"/>
                </a:solidFill>
                <a:latin typeface="Calibri"/>
              </a:rPr>
              <a:t>Eval harness +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4324912"/>
            <a:ext cx="100584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Aug 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4324912"/>
            <a:ext cx="530352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Reproducible nightly run + metrics history.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24159" y="4407208"/>
            <a:ext cx="1097280" cy="27432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424159" y="4407208"/>
            <a:ext cx="10972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Cedars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763824"/>
            <a:ext cx="11274552" cy="43891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" y="4763824"/>
            <a:ext cx="2926079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A0A"/>
                </a:solidFill>
                <a:latin typeface="Calibri"/>
              </a:rPr>
              <a:t>Hosted demo URL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03320" y="4763824"/>
            <a:ext cx="100584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Aug 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2040" y="4763824"/>
            <a:ext cx="530352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Live patient-facing app for stakeholder walkthroughs.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24159" y="4846120"/>
            <a:ext cx="1097280" cy="27432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424159" y="4846120"/>
            <a:ext cx="10972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Cedars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202736"/>
            <a:ext cx="11274552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4360" y="5202736"/>
            <a:ext cx="2926079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A0A"/>
                </a:solidFill>
                <a:latin typeface="Calibri"/>
              </a:rPr>
              <a:t>Runbook &amp; architecture doc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03320" y="5202736"/>
            <a:ext cx="100584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Aug 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92040" y="5202736"/>
            <a:ext cx="530352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How to run, deploy, debug, extend.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424159" y="5285032"/>
            <a:ext cx="1097280" cy="27432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424159" y="5285032"/>
            <a:ext cx="10972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Cedars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641648"/>
            <a:ext cx="11274552" cy="43891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4360" y="5641648"/>
            <a:ext cx="2926079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A0A"/>
                </a:solidFill>
                <a:latin typeface="Calibri"/>
              </a:rPr>
              <a:t>Demo video (5 min)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03320" y="5641648"/>
            <a:ext cx="100584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Aug 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92040" y="5641648"/>
            <a:ext cx="5303520" cy="4389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A2A"/>
                </a:solidFill>
                <a:latin typeface="Calibri"/>
              </a:rPr>
              <a:t>End-to-end walkthrough of one resolution.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424159" y="5723944"/>
            <a:ext cx="1097280" cy="27432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424159" y="5723944"/>
            <a:ext cx="10972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Cedars</a:t>
            </a:r>
          </a:p>
        </p:txBody>
      </p:sp>
    </p:spTree>
    <p:extLst>
      <p:ext uri="{BB962C8B-B14F-4D97-AF65-F5344CB8AC3E}">
        <p14:creationId xmlns:p14="http://schemas.microsoft.com/office/powerpoint/2010/main" val="2595345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02920"/>
            <a:ext cx="164592" cy="3840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960120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A0A0A"/>
                </a:solidFill>
                <a:latin typeface="Calibri"/>
              </a:rPr>
              <a:t>Stretch goals &amp; next-year extensions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27013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 dirty="0">
                <a:solidFill>
                  <a:srgbClr val="6E7072"/>
                </a:solidFill>
                <a:latin typeface="Calibri"/>
              </a:rPr>
              <a:t>Within reach if a sprint gets ahead</a:t>
            </a:r>
            <a:r>
              <a:rPr lang="en-US" sz="1400" b="0" i="1" dirty="0">
                <a:solidFill>
                  <a:srgbClr val="6E7072"/>
                </a:solidFill>
                <a:latin typeface="Calibri"/>
              </a:rPr>
              <a:t>,</a:t>
            </a:r>
            <a:r>
              <a:rPr sz="1400" b="0" i="1" dirty="0">
                <a:solidFill>
                  <a:srgbClr val="6E7072"/>
                </a:solidFill>
                <a:latin typeface="Calibri"/>
              </a:rPr>
              <a:t> or a runway for </a:t>
            </a:r>
            <a:r>
              <a:rPr lang="en-US" sz="1400" b="0" i="1" dirty="0">
                <a:solidFill>
                  <a:srgbClr val="6E7072"/>
                </a:solidFill>
                <a:latin typeface="Calibri"/>
              </a:rPr>
              <a:t>future teams.</a:t>
            </a:r>
            <a:endParaRPr sz="1400" b="0" i="1" dirty="0">
              <a:solidFill>
                <a:srgbClr val="6E7072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5532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7315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3337560" cy="4114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0A0A"/>
                </a:solidFill>
                <a:latin typeface="Calibri"/>
              </a:rPr>
              <a:t>Voice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947672"/>
            <a:ext cx="1508760" cy="292608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1947672"/>
            <a:ext cx="1508760" cy="29260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507492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A2A2A"/>
                </a:solidFill>
                <a:latin typeface="Calibri"/>
              </a:rPr>
              <a:t>Patients speak the bill out loud (or upload a photo); agent narrates back. Big accessibility win.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783080"/>
            <a:ext cx="5532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7315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1901952"/>
            <a:ext cx="3337560" cy="4114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0A0A"/>
                </a:solidFill>
                <a:latin typeface="Calibri"/>
              </a:rPr>
              <a:t>Multilingual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48672" y="1947672"/>
            <a:ext cx="1508760" cy="292608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48672" y="1947672"/>
            <a:ext cx="1508760" cy="29260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377440"/>
            <a:ext cx="5074920" cy="25507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 dirty="0">
                <a:solidFill>
                  <a:srgbClr val="2A2A2A"/>
                </a:solidFill>
                <a:latin typeface="Calibri"/>
              </a:rPr>
              <a:t>Spanish first (Cedars's largest non-English population); pluggable for more.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83280"/>
            <a:ext cx="5532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383280"/>
            <a:ext cx="73152" cy="1417320"/>
          </a:xfrm>
          <a:prstGeom prst="rect">
            <a:avLst/>
          </a:prstGeom>
          <a:solidFill>
            <a:srgbClr val="545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502152"/>
            <a:ext cx="3337560" cy="4114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0A0A"/>
                </a:solidFill>
                <a:latin typeface="Calibri"/>
              </a:rPr>
              <a:t>Photo / OCR ingestion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547872"/>
            <a:ext cx="1508760" cy="292608"/>
          </a:xfrm>
          <a:prstGeom prst="roundRect">
            <a:avLst/>
          </a:prstGeom>
          <a:solidFill>
            <a:srgbClr val="545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06240" y="3547872"/>
            <a:ext cx="1508760" cy="29260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NEAR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77640"/>
            <a:ext cx="507492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A2A2A"/>
                </a:solidFill>
                <a:latin typeface="Calibri"/>
              </a:rPr>
              <a:t>Phone-camera capture of a bill PDF. Adds OCR pipeline + image-quality handling.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3383280"/>
            <a:ext cx="5532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9632" y="3383280"/>
            <a:ext cx="73152" cy="1417320"/>
          </a:xfrm>
          <a:prstGeom prst="rect">
            <a:avLst/>
          </a:prstGeom>
          <a:solidFill>
            <a:srgbClr val="545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3502152"/>
            <a:ext cx="3337560" cy="4114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0A0A"/>
                </a:solidFill>
                <a:latin typeface="Calibri"/>
              </a:rPr>
              <a:t>Dispute-letter generator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48672" y="3547872"/>
            <a:ext cx="1508760" cy="292608"/>
          </a:xfrm>
          <a:prstGeom prst="roundRect">
            <a:avLst/>
          </a:prstGeom>
          <a:solidFill>
            <a:srgbClr val="545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48672" y="3547872"/>
            <a:ext cx="1508760" cy="29260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NEAR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3977640"/>
            <a:ext cx="507492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A2A2A"/>
                </a:solidFill>
                <a:latin typeface="Calibri"/>
              </a:rPr>
              <a:t>When a denial is detected, draft an appeal letter the patient can send.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5532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983480"/>
            <a:ext cx="73152" cy="14173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102352"/>
            <a:ext cx="3337560" cy="4114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0A0A"/>
                </a:solidFill>
                <a:latin typeface="Calibri"/>
              </a:rPr>
              <a:t>EHR / billing-system integration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5148072"/>
            <a:ext cx="1508760" cy="292608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06240" y="5148072"/>
            <a:ext cx="1508760" cy="29260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NEXT YEAR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577840"/>
            <a:ext cx="507492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A2A2A"/>
                </a:solidFill>
                <a:latin typeface="Calibri"/>
              </a:rPr>
              <a:t>Replace synthetic ingestion with a real (HIPAA-compliant) read-only feed from Cedars systems.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4983480"/>
            <a:ext cx="5532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99632" y="4983480"/>
            <a:ext cx="73152" cy="14173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73952" y="5102352"/>
            <a:ext cx="3337560" cy="4114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0A0A"/>
                </a:solidFill>
                <a:latin typeface="Calibri"/>
              </a:rPr>
              <a:t>Cohort analytics for Cedars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48672" y="5148072"/>
            <a:ext cx="1508760" cy="292608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48672" y="5148072"/>
            <a:ext cx="1508760" cy="29260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NEXT YEAR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2" y="5577840"/>
            <a:ext cx="507492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A2A2A"/>
                </a:solidFill>
                <a:latin typeface="Calibri"/>
              </a:rPr>
              <a:t>Aggregate (anonymized) patient confusion patterns into a feedback signal for billing operations.</a:t>
            </a:r>
          </a:p>
        </p:txBody>
      </p:sp>
    </p:spTree>
    <p:extLst>
      <p:ext uri="{BB962C8B-B14F-4D97-AF65-F5344CB8AC3E}">
        <p14:creationId xmlns:p14="http://schemas.microsoft.com/office/powerpoint/2010/main" val="2755338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413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6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1F34BF-0E32-4AA8-B548-9AA5C3792CCE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2b140a4-e3b5-47c2-8514-0a71cceb49c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1704</Words>
  <Application>Microsoft Office PowerPoint</Application>
  <PresentationFormat>Widescreen</PresentationFormat>
  <Paragraphs>314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Helvetica</vt:lpstr>
      <vt:lpstr>Helvetica Light</vt:lpstr>
      <vt:lpstr>Office Theme</vt:lpstr>
      <vt:lpstr>Confronting the Confusion  Around Healthcare Bills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Estuar, Diego</dc:creator>
  <cp:keywords/>
  <dc:description>generated using python-pptx</dc:description>
  <cp:lastModifiedBy>Estuar, Diego</cp:lastModifiedBy>
  <cp:revision>3</cp:revision>
  <dcterms:created xsi:type="dcterms:W3CDTF">2013-01-27T09:14:16Z</dcterms:created>
  <dcterms:modified xsi:type="dcterms:W3CDTF">2026-05-04T20:57:33Z</dcterms:modified>
  <cp:category/>
</cp:coreProperties>
</file>